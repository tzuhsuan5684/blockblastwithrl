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66" r:id="rId3"/>
    <p:sldId id="258" r:id="rId4"/>
    <p:sldId id="271" r:id="rId5"/>
    <p:sldId id="273" r:id="rId6"/>
    <p:sldId id="259" r:id="rId7"/>
    <p:sldId id="260" r:id="rId8"/>
    <p:sldId id="261" r:id="rId9"/>
    <p:sldId id="262" r:id="rId10"/>
    <p:sldId id="268" r:id="rId11"/>
    <p:sldId id="276" r:id="rId12"/>
    <p:sldId id="264" r:id="rId13"/>
    <p:sldId id="272" r:id="rId14"/>
    <p:sldId id="265" r:id="rId15"/>
    <p:sldId id="267" r:id="rId16"/>
    <p:sldId id="274" r:id="rId17"/>
    <p:sldId id="275" r:id="rId1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5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E6DC8"/>
    <a:srgbClr val="F5F7FF"/>
    <a:srgbClr val="DDE3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51" autoAdjust="0"/>
    <p:restoredTop sz="94660"/>
  </p:normalViewPr>
  <p:slideViewPr>
    <p:cSldViewPr snapToGrid="0" snapToObjects="1">
      <p:cViewPr varScale="1">
        <p:scale>
          <a:sx n="99" d="100"/>
          <a:sy n="99" d="100"/>
        </p:scale>
        <p:origin x="912" y="78"/>
      </p:cViewPr>
      <p:guideLst>
        <p:guide orient="horz" pos="2205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25F15D-4713-479C-8447-C24E59DF690A}" type="datetimeFigureOut">
              <a:rPr lang="zh-TW" altLang="en-US" smtClean="0"/>
              <a:t>2026/5/29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CFC700-AE4D-4DB6-96ED-5152791E610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3895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CFC700-AE4D-4DB6-96ED-5152791E610C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995428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CFC700-AE4D-4DB6-96ED-5152791E610C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17617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CFC700-AE4D-4DB6-96ED-5152791E610C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257349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CFC700-AE4D-4DB6-96ED-5152791E610C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26443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6F2E5-8A93-4F74-BD79-629B7885B7BF}" type="datetime1">
              <a:rPr lang="en-US" altLang="zh-TW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B5DE1-0AE6-4C1B-B8B5-265716818421}" type="datetime1">
              <a:rPr lang="en-US" altLang="zh-TW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E3A6B-E329-4C2F-B7EF-B09F42301FFB}" type="datetime1">
              <a:rPr lang="en-US" altLang="zh-TW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44D9A-55E0-491B-804F-C6F00D40D7B3}" type="datetime1">
              <a:rPr lang="en-US" altLang="zh-TW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E2B45-C205-4B49-BD17-C327934D0446}" type="datetime1">
              <a:rPr lang="en-US" altLang="zh-TW" smtClean="0"/>
              <a:t>5/29/2026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7AEE0-40E6-44AF-8F14-79F63225F636}" type="datetime1">
              <a:rPr lang="en-US" altLang="zh-TW" smtClean="0"/>
              <a:t>5/29/2026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50679-38F9-450C-8AD5-B89F621A475B}" type="datetime1">
              <a:rPr lang="en-US" altLang="zh-TW" smtClean="0"/>
              <a:t>5/29/2026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6A7EB-1BD2-4F35-BAA0-646787FEE8A7}" type="datetime1">
              <a:rPr lang="en-US" altLang="zh-TW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027D4-6ABE-4EFA-A11B-3A3DC05535C7}" type="datetime1">
              <a:rPr lang="en-US" altLang="zh-TW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E12CB-0A7B-4ED6-9025-DEE2520ADD1E}" type="datetime1">
              <a:rPr lang="en-US" altLang="zh-TW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E3D50-136F-4C71-A2DA-268414B1844E}" type="datetime1">
              <a:rPr lang="en-US" altLang="zh-TW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14F1EE-C309-4DF2-B818-F485B71D9C0B}" type="datetime1">
              <a:rPr lang="en-US" altLang="zh-TW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81616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media" Target="../media/media2.mp4"/><Relationship Id="rId7" Type="http://schemas.openxmlformats.org/officeDocument/2006/relationships/image" Target="../media/image7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6.png"/><Relationship Id="rId5" Type="http://schemas.openxmlformats.org/officeDocument/2006/relationships/slideLayout" Target="../slideLayouts/slideLayout7.xml"/><Relationship Id="rId4" Type="http://schemas.openxmlformats.org/officeDocument/2006/relationships/video" Target="../media/media2.mp4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E6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88952" cy="3810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14400" y="1280160"/>
            <a:ext cx="10360152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02373" y="2287344"/>
            <a:ext cx="9784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 dirty="0">
                <a:solidFill>
                  <a:srgbClr val="2E6DC8"/>
                </a:solidFill>
              </a:rPr>
              <a:t>Block Blast with Reinforcement Learning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214053" y="3058809"/>
            <a:ext cx="5788152" cy="38100"/>
          </a:xfrm>
          <a:prstGeom prst="rect">
            <a:avLst/>
          </a:prstGeom>
          <a:solidFill>
            <a:srgbClr val="2E6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02373" y="3150249"/>
            <a:ext cx="9784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 dirty="0">
                <a:solidFill>
                  <a:srgbClr val="1E1E2E"/>
                </a:solidFill>
              </a:rPr>
              <a:t>PPO with Afterstate: A Board-Aware Policy Gradient Approach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2373" y="3881769"/>
            <a:ext cx="9784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1800" b="0" i="0" dirty="0" smtClean="0">
                <a:solidFill>
                  <a:srgbClr val="556688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黃子瑄</a:t>
            </a:r>
            <a:r>
              <a:rPr sz="1800" b="0" i="0" dirty="0" smtClean="0">
                <a:solidFill>
                  <a:srgbClr val="556688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· </a:t>
            </a:r>
            <a:r>
              <a:rPr lang="zh-TW" altLang="en-US" sz="1800" b="0" i="0" dirty="0" smtClean="0">
                <a:solidFill>
                  <a:srgbClr val="556688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陳彥璋</a:t>
            </a:r>
            <a:r>
              <a:rPr sz="1800" b="0" i="0" dirty="0" smtClean="0">
                <a:solidFill>
                  <a:srgbClr val="556688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· </a:t>
            </a:r>
            <a:r>
              <a:rPr lang="zh-TW" altLang="en-US" sz="1800" b="0" i="0" dirty="0" smtClean="0">
                <a:solidFill>
                  <a:srgbClr val="556688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黃致穎</a:t>
            </a:r>
            <a:r>
              <a:rPr sz="1800" b="0" i="0" dirty="0" smtClean="0">
                <a:solidFill>
                  <a:srgbClr val="556688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·</a:t>
            </a:r>
            <a:r>
              <a:rPr lang="zh-TW" altLang="en-US" sz="1800" b="0" i="0" dirty="0" smtClean="0">
                <a:solidFill>
                  <a:srgbClr val="556688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譚聲全</a:t>
            </a:r>
            <a:r>
              <a:rPr sz="1800" b="0" i="0" dirty="0" smtClean="0">
                <a:solidFill>
                  <a:srgbClr val="556688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· </a:t>
            </a:r>
            <a:r>
              <a:rPr lang="zh-TW" altLang="en-US" sz="1800" b="0" i="0" dirty="0" smtClean="0">
                <a:solidFill>
                  <a:srgbClr val="556688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呂訢誠</a:t>
            </a:r>
            <a:endParaRPr sz="1800" b="0" i="0" dirty="0">
              <a:solidFill>
                <a:srgbClr val="556688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E6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6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3810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45" name="群組 44"/>
          <p:cNvGrpSpPr/>
          <p:nvPr/>
        </p:nvGrpSpPr>
        <p:grpSpPr>
          <a:xfrm>
            <a:off x="319977" y="1234440"/>
            <a:ext cx="11548872" cy="815340"/>
            <a:chOff x="320040" y="1234440"/>
            <a:chExt cx="11548872" cy="815340"/>
          </a:xfrm>
        </p:grpSpPr>
        <p:sp>
          <p:nvSpPr>
            <p:cNvPr id="5" name="Rectangle 4"/>
            <p:cNvSpPr/>
            <p:nvPr/>
          </p:nvSpPr>
          <p:spPr>
            <a:xfrm>
              <a:off x="320040" y="1234440"/>
              <a:ext cx="11548872" cy="815340"/>
            </a:xfrm>
            <a:prstGeom prst="rect">
              <a:avLst/>
            </a:prstGeom>
            <a:solidFill>
              <a:srgbClr val="F0F4F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44" name="群組 43"/>
            <p:cNvGrpSpPr/>
            <p:nvPr/>
          </p:nvGrpSpPr>
          <p:grpSpPr>
            <a:xfrm>
              <a:off x="411480" y="1408176"/>
              <a:ext cx="512064" cy="457200"/>
              <a:chOff x="384048" y="1362456"/>
              <a:chExt cx="512064" cy="457200"/>
            </a:xfrm>
          </p:grpSpPr>
          <p:sp>
            <p:nvSpPr>
              <p:cNvPr id="6" name="Rectangle 5"/>
              <p:cNvSpPr/>
              <p:nvPr/>
            </p:nvSpPr>
            <p:spPr>
              <a:xfrm>
                <a:off x="384048" y="1362456"/>
                <a:ext cx="512064" cy="457200"/>
              </a:xfrm>
              <a:prstGeom prst="rect">
                <a:avLst/>
              </a:prstGeom>
              <a:solidFill>
                <a:srgbClr val="2E6DC8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384048" y="1362456"/>
                <a:ext cx="512064" cy="4572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600" b="1" i="0">
                    <a:solidFill>
                      <a:srgbClr val="FFFFFF"/>
                    </a:solidFill>
                  </a:rPr>
                  <a:t>01</a:t>
                </a:r>
              </a:p>
            </p:txBody>
          </p:sp>
        </p:grpSp>
        <p:sp>
          <p:nvSpPr>
            <p:cNvPr id="8" name="TextBox 7"/>
            <p:cNvSpPr txBox="1"/>
            <p:nvPr/>
          </p:nvSpPr>
          <p:spPr>
            <a:xfrm>
              <a:off x="1024128" y="1307592"/>
              <a:ext cx="2286000" cy="32918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2200" b="1" i="0">
                  <a:solidFill>
                    <a:srgbClr val="2E6DC8"/>
                  </a:solidFill>
                </a:rPr>
                <a:t>Background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024128" y="1618488"/>
              <a:ext cx="777240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700" b="0" i="0">
                  <a:solidFill>
                    <a:srgbClr val="1E1E2E"/>
                  </a:solidFill>
                </a:rPr>
                <a:t>Game overview &amp; motivation</a:t>
              </a:r>
            </a:p>
          </p:txBody>
        </p:sp>
      </p:grpSp>
      <p:grpSp>
        <p:nvGrpSpPr>
          <p:cNvPr id="46" name="群組 45"/>
          <p:cNvGrpSpPr/>
          <p:nvPr/>
        </p:nvGrpSpPr>
        <p:grpSpPr>
          <a:xfrm>
            <a:off x="319977" y="2120285"/>
            <a:ext cx="11548872" cy="815340"/>
            <a:chOff x="320040" y="1234440"/>
            <a:chExt cx="11548872" cy="815340"/>
          </a:xfrm>
        </p:grpSpPr>
        <p:sp>
          <p:nvSpPr>
            <p:cNvPr id="47" name="Rectangle 4"/>
            <p:cNvSpPr/>
            <p:nvPr/>
          </p:nvSpPr>
          <p:spPr>
            <a:xfrm>
              <a:off x="320040" y="1234440"/>
              <a:ext cx="11548872" cy="815340"/>
            </a:xfrm>
            <a:prstGeom prst="rect">
              <a:avLst/>
            </a:prstGeom>
            <a:solidFill>
              <a:srgbClr val="F0F4F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48" name="群組 47"/>
            <p:cNvGrpSpPr/>
            <p:nvPr/>
          </p:nvGrpSpPr>
          <p:grpSpPr>
            <a:xfrm>
              <a:off x="411480" y="1408176"/>
              <a:ext cx="512064" cy="457200"/>
              <a:chOff x="384048" y="1362456"/>
              <a:chExt cx="512064" cy="457200"/>
            </a:xfrm>
          </p:grpSpPr>
          <p:sp>
            <p:nvSpPr>
              <p:cNvPr id="51" name="Rectangle 5"/>
              <p:cNvSpPr/>
              <p:nvPr/>
            </p:nvSpPr>
            <p:spPr>
              <a:xfrm>
                <a:off x="384048" y="1362456"/>
                <a:ext cx="512064" cy="457200"/>
              </a:xfrm>
              <a:prstGeom prst="rect">
                <a:avLst/>
              </a:prstGeom>
              <a:solidFill>
                <a:srgbClr val="2E6DC8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TextBox 6"/>
              <p:cNvSpPr txBox="1"/>
              <p:nvPr/>
            </p:nvSpPr>
            <p:spPr>
              <a:xfrm>
                <a:off x="384048" y="1362456"/>
                <a:ext cx="512064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600" b="1" i="0" dirty="0" smtClean="0">
                    <a:solidFill>
                      <a:srgbClr val="FFFFFF"/>
                    </a:solidFill>
                  </a:rPr>
                  <a:t>0</a:t>
                </a:r>
                <a:r>
                  <a:rPr lang="en-US" sz="1600" b="1" i="0" dirty="0" smtClean="0">
                    <a:solidFill>
                      <a:srgbClr val="FFFFFF"/>
                    </a:solidFill>
                  </a:rPr>
                  <a:t>2</a:t>
                </a:r>
                <a:endParaRPr sz="1600" b="1" i="0" dirty="0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49" name="TextBox 7"/>
            <p:cNvSpPr txBox="1"/>
            <p:nvPr/>
          </p:nvSpPr>
          <p:spPr>
            <a:xfrm>
              <a:off x="1024128" y="1307592"/>
              <a:ext cx="2286000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2200" b="1" dirty="0">
                  <a:solidFill>
                    <a:srgbClr val="2E6DC8"/>
                  </a:solidFill>
                </a:rPr>
                <a:t>Environment</a:t>
              </a:r>
            </a:p>
          </p:txBody>
        </p:sp>
        <p:sp>
          <p:nvSpPr>
            <p:cNvPr id="50" name="TextBox 8"/>
            <p:cNvSpPr txBox="1"/>
            <p:nvPr/>
          </p:nvSpPr>
          <p:spPr>
            <a:xfrm>
              <a:off x="1024128" y="1618488"/>
              <a:ext cx="7772400" cy="3539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1700" dirty="0">
                  <a:solidFill>
                    <a:srgbClr val="1E1E2E"/>
                  </a:solidFill>
                </a:rPr>
                <a:t>Observation · Action encoding · Masking</a:t>
              </a:r>
            </a:p>
          </p:txBody>
        </p:sp>
      </p:grpSp>
      <p:grpSp>
        <p:nvGrpSpPr>
          <p:cNvPr id="53" name="群組 52"/>
          <p:cNvGrpSpPr/>
          <p:nvPr/>
        </p:nvGrpSpPr>
        <p:grpSpPr>
          <a:xfrm>
            <a:off x="319977" y="3006130"/>
            <a:ext cx="11548872" cy="815340"/>
            <a:chOff x="320040" y="1234440"/>
            <a:chExt cx="11548872" cy="815340"/>
          </a:xfrm>
        </p:grpSpPr>
        <p:sp>
          <p:nvSpPr>
            <p:cNvPr id="54" name="Rectangle 4"/>
            <p:cNvSpPr/>
            <p:nvPr/>
          </p:nvSpPr>
          <p:spPr>
            <a:xfrm>
              <a:off x="320040" y="1234440"/>
              <a:ext cx="11548872" cy="815340"/>
            </a:xfrm>
            <a:prstGeom prst="rect">
              <a:avLst/>
            </a:prstGeom>
            <a:solidFill>
              <a:srgbClr val="F0F4F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55" name="群組 54"/>
            <p:cNvGrpSpPr/>
            <p:nvPr/>
          </p:nvGrpSpPr>
          <p:grpSpPr>
            <a:xfrm>
              <a:off x="411480" y="1408176"/>
              <a:ext cx="512064" cy="457200"/>
              <a:chOff x="384048" y="1362456"/>
              <a:chExt cx="512064" cy="457200"/>
            </a:xfrm>
          </p:grpSpPr>
          <p:sp>
            <p:nvSpPr>
              <p:cNvPr id="58" name="Rectangle 5"/>
              <p:cNvSpPr/>
              <p:nvPr/>
            </p:nvSpPr>
            <p:spPr>
              <a:xfrm>
                <a:off x="384048" y="1362456"/>
                <a:ext cx="512064" cy="457200"/>
              </a:xfrm>
              <a:prstGeom prst="rect">
                <a:avLst/>
              </a:prstGeom>
              <a:solidFill>
                <a:srgbClr val="2E6DC8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TextBox 6"/>
              <p:cNvSpPr txBox="1"/>
              <p:nvPr/>
            </p:nvSpPr>
            <p:spPr>
              <a:xfrm>
                <a:off x="384048" y="1362456"/>
                <a:ext cx="512064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600" b="1" i="0" dirty="0" smtClean="0">
                    <a:solidFill>
                      <a:srgbClr val="FFFFFF"/>
                    </a:solidFill>
                  </a:rPr>
                  <a:t>0</a:t>
                </a:r>
                <a:r>
                  <a:rPr lang="en-US" sz="1600" b="1" i="0" dirty="0" smtClean="0">
                    <a:solidFill>
                      <a:srgbClr val="FFFFFF"/>
                    </a:solidFill>
                  </a:rPr>
                  <a:t>3</a:t>
                </a:r>
                <a:endParaRPr sz="1600" b="1" i="0" dirty="0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56" name="TextBox 7"/>
            <p:cNvSpPr txBox="1"/>
            <p:nvPr/>
          </p:nvSpPr>
          <p:spPr>
            <a:xfrm>
              <a:off x="1024128" y="1307592"/>
              <a:ext cx="2286000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2200" b="1" dirty="0">
                  <a:solidFill>
                    <a:srgbClr val="2E6DC8"/>
                  </a:solidFill>
                </a:rPr>
                <a:t>PPO-AF Method</a:t>
              </a:r>
            </a:p>
          </p:txBody>
        </p:sp>
        <p:sp>
          <p:nvSpPr>
            <p:cNvPr id="57" name="TextBox 8"/>
            <p:cNvSpPr txBox="1"/>
            <p:nvPr/>
          </p:nvSpPr>
          <p:spPr>
            <a:xfrm>
              <a:off x="1024128" y="1618488"/>
              <a:ext cx="7772400" cy="3539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1700" dirty="0">
                  <a:solidFill>
                    <a:srgbClr val="1E1E2E"/>
                  </a:solidFill>
                </a:rPr>
                <a:t>Afterstate concept · Domain motivation · Architecture</a:t>
              </a:r>
            </a:p>
          </p:txBody>
        </p:sp>
      </p:grpSp>
      <p:grpSp>
        <p:nvGrpSpPr>
          <p:cNvPr id="60" name="群組 59"/>
          <p:cNvGrpSpPr/>
          <p:nvPr/>
        </p:nvGrpSpPr>
        <p:grpSpPr>
          <a:xfrm>
            <a:off x="319977" y="3891975"/>
            <a:ext cx="11548872" cy="815340"/>
            <a:chOff x="320040" y="1234440"/>
            <a:chExt cx="11548872" cy="815340"/>
          </a:xfrm>
        </p:grpSpPr>
        <p:sp>
          <p:nvSpPr>
            <p:cNvPr id="61" name="Rectangle 4"/>
            <p:cNvSpPr/>
            <p:nvPr/>
          </p:nvSpPr>
          <p:spPr>
            <a:xfrm>
              <a:off x="320040" y="1234440"/>
              <a:ext cx="11548872" cy="815340"/>
            </a:xfrm>
            <a:prstGeom prst="rect">
              <a:avLst/>
            </a:prstGeom>
            <a:solidFill>
              <a:srgbClr val="F0F4F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62" name="群組 61"/>
            <p:cNvGrpSpPr/>
            <p:nvPr/>
          </p:nvGrpSpPr>
          <p:grpSpPr>
            <a:xfrm>
              <a:off x="411480" y="1408176"/>
              <a:ext cx="512064" cy="457200"/>
              <a:chOff x="384048" y="1362456"/>
              <a:chExt cx="512064" cy="457200"/>
            </a:xfrm>
          </p:grpSpPr>
          <p:sp>
            <p:nvSpPr>
              <p:cNvPr id="65" name="Rectangle 5"/>
              <p:cNvSpPr/>
              <p:nvPr/>
            </p:nvSpPr>
            <p:spPr>
              <a:xfrm>
                <a:off x="384048" y="1362456"/>
                <a:ext cx="512064" cy="457200"/>
              </a:xfrm>
              <a:prstGeom prst="rect">
                <a:avLst/>
              </a:prstGeom>
              <a:solidFill>
                <a:srgbClr val="2E6DC8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TextBox 6"/>
              <p:cNvSpPr txBox="1"/>
              <p:nvPr/>
            </p:nvSpPr>
            <p:spPr>
              <a:xfrm>
                <a:off x="384048" y="1362456"/>
                <a:ext cx="512064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600" b="1" i="0" dirty="0" smtClean="0">
                    <a:solidFill>
                      <a:srgbClr val="FFFFFF"/>
                    </a:solidFill>
                  </a:rPr>
                  <a:t>0</a:t>
                </a:r>
                <a:r>
                  <a:rPr lang="en-US" sz="1600" b="1" i="0" dirty="0" smtClean="0">
                    <a:solidFill>
                      <a:srgbClr val="FFFFFF"/>
                    </a:solidFill>
                  </a:rPr>
                  <a:t>4</a:t>
                </a:r>
                <a:endParaRPr sz="1600" b="1" i="0" dirty="0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63" name="TextBox 7"/>
            <p:cNvSpPr txBox="1"/>
            <p:nvPr/>
          </p:nvSpPr>
          <p:spPr>
            <a:xfrm>
              <a:off x="1024128" y="1307592"/>
              <a:ext cx="2286000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2200" b="1" dirty="0">
                  <a:solidFill>
                    <a:srgbClr val="2E6DC8"/>
                  </a:solidFill>
                </a:rPr>
                <a:t>Comparison</a:t>
              </a:r>
            </a:p>
          </p:txBody>
        </p:sp>
        <p:sp>
          <p:nvSpPr>
            <p:cNvPr id="64" name="TextBox 8"/>
            <p:cNvSpPr txBox="1"/>
            <p:nvPr/>
          </p:nvSpPr>
          <p:spPr>
            <a:xfrm>
              <a:off x="1024128" y="1618488"/>
              <a:ext cx="7772400" cy="3539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1700" dirty="0">
                  <a:solidFill>
                    <a:srgbClr val="1E1E2E"/>
                  </a:solidFill>
                </a:rPr>
                <a:t>Baseline / DQN / PPO / PPO-AF results</a:t>
              </a:r>
            </a:p>
          </p:txBody>
        </p:sp>
      </p:grpSp>
      <p:grpSp>
        <p:nvGrpSpPr>
          <p:cNvPr id="67" name="群組 66"/>
          <p:cNvGrpSpPr/>
          <p:nvPr/>
        </p:nvGrpSpPr>
        <p:grpSpPr>
          <a:xfrm>
            <a:off x="319977" y="4777820"/>
            <a:ext cx="11548872" cy="815340"/>
            <a:chOff x="320040" y="1234440"/>
            <a:chExt cx="11548872" cy="815340"/>
          </a:xfrm>
        </p:grpSpPr>
        <p:sp>
          <p:nvSpPr>
            <p:cNvPr id="68" name="Rectangle 4"/>
            <p:cNvSpPr/>
            <p:nvPr/>
          </p:nvSpPr>
          <p:spPr>
            <a:xfrm>
              <a:off x="320040" y="1234440"/>
              <a:ext cx="11548872" cy="815340"/>
            </a:xfrm>
            <a:prstGeom prst="rect">
              <a:avLst/>
            </a:prstGeom>
            <a:solidFill>
              <a:srgbClr val="F0F4F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69" name="群組 68"/>
            <p:cNvGrpSpPr/>
            <p:nvPr/>
          </p:nvGrpSpPr>
          <p:grpSpPr>
            <a:xfrm>
              <a:off x="411480" y="1408176"/>
              <a:ext cx="512064" cy="457200"/>
              <a:chOff x="384048" y="1362456"/>
              <a:chExt cx="512064" cy="457200"/>
            </a:xfrm>
          </p:grpSpPr>
          <p:sp>
            <p:nvSpPr>
              <p:cNvPr id="72" name="Rectangle 5"/>
              <p:cNvSpPr/>
              <p:nvPr/>
            </p:nvSpPr>
            <p:spPr>
              <a:xfrm>
                <a:off x="384048" y="1362456"/>
                <a:ext cx="512064" cy="457200"/>
              </a:xfrm>
              <a:prstGeom prst="rect">
                <a:avLst/>
              </a:prstGeom>
              <a:solidFill>
                <a:srgbClr val="2E6DC8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TextBox 6"/>
              <p:cNvSpPr txBox="1"/>
              <p:nvPr/>
            </p:nvSpPr>
            <p:spPr>
              <a:xfrm>
                <a:off x="384048" y="1362456"/>
                <a:ext cx="512064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600" b="1" i="0" dirty="0" smtClean="0">
                    <a:solidFill>
                      <a:srgbClr val="FFFFFF"/>
                    </a:solidFill>
                  </a:rPr>
                  <a:t>0</a:t>
                </a:r>
                <a:r>
                  <a:rPr lang="en-US" sz="1600" b="1" i="0" dirty="0" smtClean="0">
                    <a:solidFill>
                      <a:srgbClr val="FFFFFF"/>
                    </a:solidFill>
                  </a:rPr>
                  <a:t>5</a:t>
                </a:r>
                <a:endParaRPr sz="1600" b="1" i="0" dirty="0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70" name="TextBox 7"/>
            <p:cNvSpPr txBox="1"/>
            <p:nvPr/>
          </p:nvSpPr>
          <p:spPr>
            <a:xfrm>
              <a:off x="1024128" y="1307592"/>
              <a:ext cx="2286000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2200" b="1" dirty="0">
                  <a:solidFill>
                    <a:srgbClr val="2E6DC8"/>
                  </a:solidFill>
                </a:rPr>
                <a:t>Demo</a:t>
              </a:r>
            </a:p>
          </p:txBody>
        </p:sp>
        <p:sp>
          <p:nvSpPr>
            <p:cNvPr id="71" name="TextBox 8"/>
            <p:cNvSpPr txBox="1"/>
            <p:nvPr/>
          </p:nvSpPr>
          <p:spPr>
            <a:xfrm>
              <a:off x="1024128" y="1618488"/>
              <a:ext cx="7772400" cy="3539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1700" dirty="0">
                  <a:solidFill>
                    <a:srgbClr val="1E1E2E"/>
                  </a:solidFill>
                </a:rPr>
                <a:t>Live gameplay visualization</a:t>
              </a:r>
            </a:p>
          </p:txBody>
        </p:sp>
      </p:grpSp>
      <p:grpSp>
        <p:nvGrpSpPr>
          <p:cNvPr id="74" name="群組 73"/>
          <p:cNvGrpSpPr/>
          <p:nvPr/>
        </p:nvGrpSpPr>
        <p:grpSpPr>
          <a:xfrm>
            <a:off x="319977" y="5663665"/>
            <a:ext cx="11548872" cy="815340"/>
            <a:chOff x="320040" y="1234440"/>
            <a:chExt cx="11548872" cy="815340"/>
          </a:xfrm>
        </p:grpSpPr>
        <p:sp>
          <p:nvSpPr>
            <p:cNvPr id="75" name="Rectangle 4"/>
            <p:cNvSpPr/>
            <p:nvPr/>
          </p:nvSpPr>
          <p:spPr>
            <a:xfrm>
              <a:off x="320040" y="1234440"/>
              <a:ext cx="11548872" cy="815340"/>
            </a:xfrm>
            <a:prstGeom prst="rect">
              <a:avLst/>
            </a:prstGeom>
            <a:solidFill>
              <a:srgbClr val="F0F4F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76" name="群組 75"/>
            <p:cNvGrpSpPr/>
            <p:nvPr/>
          </p:nvGrpSpPr>
          <p:grpSpPr>
            <a:xfrm>
              <a:off x="411480" y="1408176"/>
              <a:ext cx="512064" cy="457200"/>
              <a:chOff x="384048" y="1362456"/>
              <a:chExt cx="512064" cy="457200"/>
            </a:xfrm>
          </p:grpSpPr>
          <p:sp>
            <p:nvSpPr>
              <p:cNvPr id="79" name="Rectangle 5"/>
              <p:cNvSpPr/>
              <p:nvPr/>
            </p:nvSpPr>
            <p:spPr>
              <a:xfrm>
                <a:off x="384048" y="1362456"/>
                <a:ext cx="512064" cy="457200"/>
              </a:xfrm>
              <a:prstGeom prst="rect">
                <a:avLst/>
              </a:prstGeom>
              <a:solidFill>
                <a:srgbClr val="2E6DC8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TextBox 6"/>
              <p:cNvSpPr txBox="1"/>
              <p:nvPr/>
            </p:nvSpPr>
            <p:spPr>
              <a:xfrm>
                <a:off x="384048" y="1362456"/>
                <a:ext cx="512064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600" b="1" i="0" dirty="0" smtClean="0">
                    <a:solidFill>
                      <a:srgbClr val="FFFFFF"/>
                    </a:solidFill>
                  </a:rPr>
                  <a:t>0</a:t>
                </a:r>
                <a:r>
                  <a:rPr lang="en-US" sz="1600" b="1" i="0" dirty="0" smtClean="0">
                    <a:solidFill>
                      <a:srgbClr val="FFFFFF"/>
                    </a:solidFill>
                  </a:rPr>
                  <a:t>6</a:t>
                </a:r>
                <a:endParaRPr sz="1600" b="1" i="0" dirty="0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77" name="TextBox 7"/>
            <p:cNvSpPr txBox="1"/>
            <p:nvPr/>
          </p:nvSpPr>
          <p:spPr>
            <a:xfrm>
              <a:off x="1024128" y="1307592"/>
              <a:ext cx="2286000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2200" b="1" dirty="0">
                  <a:solidFill>
                    <a:srgbClr val="2E6DC8"/>
                  </a:solidFill>
                </a:rPr>
                <a:t>Conclusion</a:t>
              </a:r>
            </a:p>
          </p:txBody>
        </p:sp>
        <p:sp>
          <p:nvSpPr>
            <p:cNvPr id="78" name="TextBox 8"/>
            <p:cNvSpPr txBox="1"/>
            <p:nvPr/>
          </p:nvSpPr>
          <p:spPr>
            <a:xfrm>
              <a:off x="1024128" y="1618488"/>
              <a:ext cx="7772400" cy="3539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1700" dirty="0">
                  <a:solidFill>
                    <a:srgbClr val="1E1E2E"/>
                  </a:solidFill>
                </a:rPr>
                <a:t>Summary &amp; future work</a:t>
              </a:r>
            </a:p>
          </p:txBody>
        </p:sp>
      </p:grpSp>
      <p:sp>
        <p:nvSpPr>
          <p:cNvPr id="10" name="投影片編號版面配置區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835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6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DDFF"/>
                </a:solidFill>
              </a:rPr>
              <a:t>Game Overview &amp; Motivation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3810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1188720"/>
            <a:ext cx="53035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 dirty="0">
                <a:solidFill>
                  <a:srgbClr val="2E6DC8"/>
                </a:solidFill>
              </a:rPr>
              <a:t>What is Block Blast?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661098"/>
            <a:ext cx="11176462" cy="45719"/>
          </a:xfrm>
          <a:prstGeom prst="rect">
            <a:avLst/>
          </a:prstGeom>
          <a:solidFill>
            <a:srgbClr val="2E6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1926967"/>
            <a:ext cx="6521335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altLang="zh-TW" sz="2600" b="1" dirty="0" smtClean="0"/>
              <a:t>8 </a:t>
            </a:r>
            <a:r>
              <a:rPr lang="en-US" altLang="zh-TW" sz="2600" b="1" dirty="0"/>
              <a:t>× 8 Grid</a:t>
            </a:r>
            <a:r>
              <a:rPr lang="en-US" altLang="zh-TW" sz="2600" dirty="0"/>
              <a:t> — A compact strategic puzzle environment</a:t>
            </a:r>
            <a:r>
              <a:rPr lang="en-US" altLang="zh-TW" sz="2600" dirty="0" smtClean="0"/>
              <a:t>.</a:t>
            </a:r>
          </a:p>
          <a:p>
            <a:pPr marL="457200" indent="-4572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altLang="zh-TW" sz="2600" b="1" dirty="0" smtClean="0"/>
              <a:t>Round-Based</a:t>
            </a:r>
            <a:r>
              <a:rPr lang="en-US" altLang="zh-TW" sz="2600" dirty="0" smtClean="0"/>
              <a:t> </a:t>
            </a:r>
            <a:r>
              <a:rPr lang="en-US" altLang="zh-TW" sz="2600" dirty="0"/>
              <a:t>— Each round deals 3 pieces; all must be placed before the next round begins</a:t>
            </a:r>
            <a:r>
              <a:rPr lang="en-US" altLang="zh-TW" sz="2600" dirty="0" smtClean="0"/>
              <a:t>.</a:t>
            </a:r>
          </a:p>
          <a:p>
            <a:pPr marL="457200" indent="-4572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altLang="zh-TW" sz="2600" b="1" dirty="0" smtClean="0"/>
              <a:t>Clearing </a:t>
            </a:r>
            <a:r>
              <a:rPr lang="en-US" altLang="zh-TW" sz="2600" b="1" dirty="0"/>
              <a:t>Logic</a:t>
            </a:r>
            <a:r>
              <a:rPr lang="en-US" altLang="zh-TW" sz="2600" dirty="0"/>
              <a:t> — Fill any complete row or column to score points and reclaim space</a:t>
            </a:r>
            <a:r>
              <a:rPr lang="en-US" altLang="zh-TW" sz="2600" dirty="0" smtClean="0"/>
              <a:t>.</a:t>
            </a:r>
          </a:p>
          <a:p>
            <a:pPr marL="457200" indent="-4572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altLang="zh-TW" sz="2600" b="1" dirty="0" smtClean="0"/>
              <a:t>Termination</a:t>
            </a:r>
            <a:r>
              <a:rPr lang="en-US" altLang="zh-TW" sz="2600" dirty="0" smtClean="0"/>
              <a:t> </a:t>
            </a:r>
            <a:r>
              <a:rPr lang="en-US" altLang="zh-TW" sz="2600" dirty="0"/>
              <a:t>— The game ends when no remaining piece can be legally </a:t>
            </a:r>
            <a:r>
              <a:rPr lang="en-US" altLang="zh-TW" sz="2600" dirty="0" smtClean="0"/>
              <a:t>placed.</a:t>
            </a:r>
            <a:endParaRPr sz="2600" dirty="0">
              <a:solidFill>
                <a:srgbClr val="1E1E2E"/>
              </a:solidFill>
            </a:endParaRPr>
          </a:p>
        </p:txBody>
      </p:sp>
      <p:pic>
        <p:nvPicPr>
          <p:cNvPr id="17" name="圖片 16"/>
          <p:cNvPicPr>
            <a:picLocks noChangeAspect="1"/>
          </p:cNvPicPr>
          <p:nvPr/>
        </p:nvPicPr>
        <p:blipFill rotWithShape="1">
          <a:blip r:embed="rId2"/>
          <a:srcRect b="15097"/>
          <a:stretch/>
        </p:blipFill>
        <p:spPr>
          <a:xfrm>
            <a:off x="7897367" y="1926966"/>
            <a:ext cx="2479113" cy="4555093"/>
          </a:xfrm>
          <a:prstGeom prst="rect">
            <a:avLst/>
          </a:prstGeom>
        </p:spPr>
      </p:pic>
      <p:sp>
        <p:nvSpPr>
          <p:cNvPr id="18" name="投影片編號版面配置區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6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DDFF"/>
                </a:solidFill>
              </a:rPr>
              <a:t>Game Overview &amp; Motivation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3810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1188720"/>
            <a:ext cx="53035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200" b="1" dirty="0">
                <a:solidFill>
                  <a:srgbClr val="2E6DC8"/>
                </a:solidFill>
              </a:rPr>
              <a:t>Why Reinforcement Learning?</a:t>
            </a:r>
            <a:endParaRPr lang="en-US" altLang="zh-TW" sz="3200" b="1" dirty="0">
              <a:solidFill>
                <a:srgbClr val="2E6DC8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11480" y="1661098"/>
            <a:ext cx="11176462" cy="45719"/>
          </a:xfrm>
          <a:prstGeom prst="rect">
            <a:avLst/>
          </a:prstGeom>
          <a:solidFill>
            <a:srgbClr val="2E6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1926967"/>
            <a:ext cx="11176462" cy="2831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altLang="zh-TW" sz="2800" b="1" dirty="0"/>
              <a:t>No Closed-Form Solution:</a:t>
            </a:r>
            <a:r>
              <a:rPr lang="en-US" altLang="zh-TW" sz="2800" dirty="0"/>
              <a:t> 8×8 × 35 piece combinations make exhaustive search infeasible</a:t>
            </a:r>
            <a:r>
              <a:rPr lang="en-US" altLang="zh-TW" sz="2800" dirty="0" smtClean="0"/>
              <a:t>.</a:t>
            </a:r>
          </a:p>
          <a:p>
            <a:pPr marL="457200" indent="-4572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altLang="zh-TW" sz="2800" b="1" dirty="0"/>
              <a:t>Natural MDP Fit:</a:t>
            </a:r>
            <a:r>
              <a:rPr lang="en-US" altLang="zh-TW" sz="2800" dirty="0"/>
              <a:t> State transitions and reward signals are well-defined</a:t>
            </a:r>
            <a:r>
              <a:rPr lang="en-US" altLang="zh-TW" sz="2800" dirty="0" smtClean="0"/>
              <a:t>.</a:t>
            </a:r>
          </a:p>
          <a:p>
            <a:pPr marL="457200" indent="-4572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altLang="zh-TW" sz="2800" b="1" dirty="0"/>
              <a:t>Greedy Is Not Enough:</a:t>
            </a:r>
            <a:r>
              <a:rPr lang="en-US" altLang="zh-TW" sz="2800" dirty="0"/>
              <a:t> Greedy scores 3.97 vs. PPO-AF's 34.41 — long-horizon planning matters</a:t>
            </a:r>
            <a:r>
              <a:rPr lang="en-US" altLang="zh-TW" sz="2800" dirty="0" smtClean="0"/>
              <a:t>.</a:t>
            </a:r>
          </a:p>
          <a:p>
            <a:pPr marL="457200" indent="-4572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altLang="zh-TW" sz="2800" b="1" dirty="0"/>
              <a:t>No Human Data Needed:</a:t>
            </a:r>
            <a:r>
              <a:rPr lang="en-US" altLang="zh-TW" sz="2800" dirty="0"/>
              <a:t> Pure self-play, zero annotation cost.</a:t>
            </a:r>
            <a:endParaRPr sz="2600" dirty="0">
              <a:solidFill>
                <a:srgbClr val="1E1E2E"/>
              </a:solidFill>
            </a:endParaRPr>
          </a:p>
        </p:txBody>
      </p:sp>
      <p:sp>
        <p:nvSpPr>
          <p:cNvPr id="10" name="Rectangle 11"/>
          <p:cNvSpPr/>
          <p:nvPr/>
        </p:nvSpPr>
        <p:spPr>
          <a:xfrm>
            <a:off x="411480" y="4978661"/>
            <a:ext cx="11365992" cy="1463040"/>
          </a:xfrm>
          <a:prstGeom prst="rect">
            <a:avLst/>
          </a:prstGeom>
          <a:solidFill>
            <a:srgbClr val="E6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2"/>
          <p:cNvSpPr txBox="1"/>
          <p:nvPr/>
        </p:nvSpPr>
        <p:spPr>
          <a:xfrm>
            <a:off x="548640" y="5070101"/>
            <a:ext cx="3657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2E6DC8"/>
                </a:solidFill>
              </a:rPr>
              <a:t>Research Question</a:t>
            </a:r>
          </a:p>
        </p:txBody>
      </p:sp>
      <p:sp>
        <p:nvSpPr>
          <p:cNvPr id="12" name="TextBox 13"/>
          <p:cNvSpPr txBox="1"/>
          <p:nvPr/>
        </p:nvSpPr>
        <p:spPr>
          <a:xfrm>
            <a:off x="562356" y="5531766"/>
            <a:ext cx="110642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solidFill>
                  <a:srgbClr val="1E1E2E"/>
                </a:solidFill>
              </a:rPr>
              <a:t>Can a board-aware </a:t>
            </a:r>
            <a:r>
              <a:rPr sz="2000" b="0" i="0" dirty="0" err="1">
                <a:solidFill>
                  <a:srgbClr val="1E1E2E"/>
                </a:solidFill>
              </a:rPr>
              <a:t>afterstate</a:t>
            </a:r>
            <a:r>
              <a:rPr sz="2000" b="0" i="0" dirty="0">
                <a:solidFill>
                  <a:srgbClr val="1E1E2E"/>
                </a:solidFill>
              </a:rPr>
              <a:t> representation help PPO learn more efficiently and achieve higher scores than standard PPO or DQN on Block Blast?</a:t>
            </a: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3515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6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 dirty="0">
                <a:solidFill>
                  <a:srgbClr val="FFFFFF"/>
                </a:solidFill>
              </a:rPr>
              <a:t>Environment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3810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6" name="群組 25"/>
          <p:cNvGrpSpPr/>
          <p:nvPr/>
        </p:nvGrpSpPr>
        <p:grpSpPr>
          <a:xfrm>
            <a:off x="484632" y="1518385"/>
            <a:ext cx="11290434" cy="1455821"/>
            <a:chOff x="484632" y="1563624"/>
            <a:chExt cx="11290434" cy="1455821"/>
          </a:xfrm>
        </p:grpSpPr>
        <p:sp>
          <p:nvSpPr>
            <p:cNvPr id="22" name="Rectangle 4"/>
            <p:cNvSpPr/>
            <p:nvPr/>
          </p:nvSpPr>
          <p:spPr>
            <a:xfrm>
              <a:off x="484632" y="1563624"/>
              <a:ext cx="11153274" cy="145582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Rectangle 5"/>
            <p:cNvSpPr/>
            <p:nvPr/>
          </p:nvSpPr>
          <p:spPr>
            <a:xfrm>
              <a:off x="484632" y="1563624"/>
              <a:ext cx="11153274" cy="420624"/>
            </a:xfrm>
            <a:prstGeom prst="rect">
              <a:avLst/>
            </a:prstGeom>
            <a:solidFill>
              <a:srgbClr val="2E6DC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TextBox 6"/>
            <p:cNvSpPr txBox="1"/>
            <p:nvPr/>
          </p:nvSpPr>
          <p:spPr>
            <a:xfrm>
              <a:off x="621792" y="1591056"/>
              <a:ext cx="1115327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altLang="zh-TW" sz="2000" b="1" i="0" dirty="0" smtClean="0">
                  <a:solidFill>
                    <a:srgbClr val="FFFFFF"/>
                  </a:solidFill>
                </a:rPr>
                <a:t>Action</a:t>
              </a:r>
              <a:r>
                <a:rPr sz="2000" b="1" i="0" dirty="0" smtClean="0">
                  <a:solidFill>
                    <a:srgbClr val="FFFFFF"/>
                  </a:solidFill>
                </a:rPr>
                <a:t> </a:t>
              </a:r>
              <a:r>
                <a:rPr sz="2000" b="1" i="0" dirty="0">
                  <a:solidFill>
                    <a:srgbClr val="FFFFFF"/>
                  </a:solidFill>
                </a:rPr>
                <a:t>Space</a:t>
              </a:r>
            </a:p>
          </p:txBody>
        </p:sp>
        <p:sp>
          <p:nvSpPr>
            <p:cNvPr id="25" name="TextBox 7"/>
            <p:cNvSpPr txBox="1"/>
            <p:nvPr/>
          </p:nvSpPr>
          <p:spPr>
            <a:xfrm>
              <a:off x="649224" y="2112264"/>
              <a:ext cx="10295330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lvl="0" indent="-342900" defTabSz="9144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zh-TW" altLang="zh-TW" sz="2000" dirty="0"/>
                <a:t>Discrete(192) — encoded as piece_idx × 64 + row × 8 + col </a:t>
              </a:r>
            </a:p>
            <a:p>
              <a:pPr marL="342900" lvl="0" indent="-342900" defTabSz="9144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zh-TW" altLang="zh-TW" sz="2000" dirty="0"/>
                <a:t>Each action selects a piece and its placement position. </a:t>
              </a:r>
            </a:p>
          </p:txBody>
        </p:sp>
      </p:grpSp>
      <p:grpSp>
        <p:nvGrpSpPr>
          <p:cNvPr id="27" name="群組 26"/>
          <p:cNvGrpSpPr/>
          <p:nvPr/>
        </p:nvGrpSpPr>
        <p:grpSpPr>
          <a:xfrm>
            <a:off x="484632" y="3068822"/>
            <a:ext cx="11290434" cy="1455821"/>
            <a:chOff x="484632" y="1563624"/>
            <a:chExt cx="11290434" cy="1455821"/>
          </a:xfrm>
        </p:grpSpPr>
        <p:sp>
          <p:nvSpPr>
            <p:cNvPr id="28" name="Rectangle 4"/>
            <p:cNvSpPr/>
            <p:nvPr/>
          </p:nvSpPr>
          <p:spPr>
            <a:xfrm>
              <a:off x="484632" y="1563624"/>
              <a:ext cx="11153274" cy="145582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Rectangle 5"/>
            <p:cNvSpPr/>
            <p:nvPr/>
          </p:nvSpPr>
          <p:spPr>
            <a:xfrm>
              <a:off x="484632" y="1563624"/>
              <a:ext cx="11153274" cy="420624"/>
            </a:xfrm>
            <a:prstGeom prst="rect">
              <a:avLst/>
            </a:prstGeom>
            <a:solidFill>
              <a:srgbClr val="2E6DC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" name="TextBox 6"/>
            <p:cNvSpPr txBox="1"/>
            <p:nvPr/>
          </p:nvSpPr>
          <p:spPr>
            <a:xfrm>
              <a:off x="621792" y="1591056"/>
              <a:ext cx="1115327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TW" altLang="zh-TW" sz="2000" b="1" dirty="0">
                  <a:solidFill>
                    <a:schemeClr val="bg1"/>
                  </a:solidFill>
                </a:rPr>
                <a:t>Reward</a:t>
              </a:r>
              <a:endParaRPr lang="zh-TW" altLang="zh-TW" sz="2000" dirty="0">
                <a:solidFill>
                  <a:schemeClr val="bg1"/>
                </a:solidFill>
              </a:endParaRPr>
            </a:p>
          </p:txBody>
        </p:sp>
        <p:sp>
          <p:nvSpPr>
            <p:cNvPr id="31" name="TextBox 7"/>
            <p:cNvSpPr txBox="1"/>
            <p:nvPr/>
          </p:nvSpPr>
          <p:spPr>
            <a:xfrm>
              <a:off x="649224" y="2112264"/>
              <a:ext cx="10295330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lvl="0" indent="-342900" defTabSz="9144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zh-TW" altLang="zh-TW" sz="2000" b="1" dirty="0"/>
                <a:t>Sparse:</a:t>
              </a:r>
              <a:r>
                <a:rPr lang="zh-TW" altLang="zh-TW" sz="2000" dirty="0"/>
                <a:t> +1 per row/column cleared; −10 on death. </a:t>
              </a:r>
            </a:p>
            <a:p>
              <a:pPr marL="342900" lvl="0" indent="-342900" defTabSz="9144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zh-TW" altLang="zh-TW" sz="2000" b="1" dirty="0"/>
                <a:t>Dense:</a:t>
              </a:r>
              <a:r>
                <a:rPr lang="zh-TW" altLang="zh-TW" sz="2000" dirty="0"/>
                <a:t> Sparse + </a:t>
              </a:r>
              <a:r>
                <a:rPr lang="en-US" altLang="zh-TW" sz="2000" dirty="0" smtClean="0"/>
                <a:t>(</a:t>
              </a:r>
              <a:r>
                <a:rPr lang="zh-TW" altLang="zh-TW" sz="2000" dirty="0" smtClean="0"/>
                <a:t>−</a:t>
              </a:r>
              <a:r>
                <a:rPr lang="zh-TW" altLang="zh-TW" sz="2000" dirty="0"/>
                <a:t>0.02 × </a:t>
              </a:r>
              <a:r>
                <a:rPr lang="zh-TW" altLang="zh-TW" sz="2000" dirty="0" smtClean="0"/>
                <a:t>holes</a:t>
              </a:r>
              <a:r>
                <a:rPr lang="en-US" altLang="zh-TW" sz="2000" dirty="0" smtClean="0"/>
                <a:t>)</a:t>
              </a:r>
              <a:r>
                <a:rPr lang="zh-TW" altLang="zh-TW" sz="2000" dirty="0" smtClean="0"/>
                <a:t> </a:t>
              </a:r>
              <a:r>
                <a:rPr lang="zh-TW" altLang="zh-TW" sz="2000" dirty="0"/>
                <a:t>− </a:t>
              </a:r>
              <a:r>
                <a:rPr lang="en-US" altLang="zh-TW" sz="2000" dirty="0" smtClean="0"/>
                <a:t>(</a:t>
              </a:r>
              <a:r>
                <a:rPr lang="zh-TW" altLang="zh-TW" sz="2000" dirty="0" smtClean="0"/>
                <a:t>0</a:t>
              </a:r>
              <a:r>
                <a:rPr lang="zh-TW" altLang="zh-TW" sz="2000" dirty="0"/>
                <a:t>.01 × bumpiness per </a:t>
              </a:r>
              <a:r>
                <a:rPr lang="zh-TW" altLang="zh-TW" sz="2000" dirty="0" smtClean="0"/>
                <a:t>step</a:t>
              </a:r>
              <a:r>
                <a:rPr lang="en-US" altLang="zh-TW" sz="2000" dirty="0" smtClean="0"/>
                <a:t>)</a:t>
              </a:r>
              <a:r>
                <a:rPr lang="zh-TW" altLang="zh-TW" sz="2000" dirty="0" smtClean="0"/>
                <a:t>. </a:t>
              </a:r>
              <a:endParaRPr lang="zh-TW" altLang="zh-TW" sz="2000" dirty="0"/>
            </a:p>
          </p:txBody>
        </p:sp>
      </p:grpSp>
      <p:grpSp>
        <p:nvGrpSpPr>
          <p:cNvPr id="37" name="群組 36"/>
          <p:cNvGrpSpPr/>
          <p:nvPr/>
        </p:nvGrpSpPr>
        <p:grpSpPr>
          <a:xfrm>
            <a:off x="484632" y="4619260"/>
            <a:ext cx="11290434" cy="1726676"/>
            <a:chOff x="898518" y="4664499"/>
            <a:chExt cx="11290434" cy="1726676"/>
          </a:xfrm>
        </p:grpSpPr>
        <p:sp>
          <p:nvSpPr>
            <p:cNvPr id="33" name="Rectangle 4"/>
            <p:cNvSpPr/>
            <p:nvPr/>
          </p:nvSpPr>
          <p:spPr>
            <a:xfrm>
              <a:off x="898518" y="4664499"/>
              <a:ext cx="11153274" cy="172667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Rectangle 5"/>
            <p:cNvSpPr/>
            <p:nvPr/>
          </p:nvSpPr>
          <p:spPr>
            <a:xfrm>
              <a:off x="898518" y="4664499"/>
              <a:ext cx="11153274" cy="420624"/>
            </a:xfrm>
            <a:prstGeom prst="rect">
              <a:avLst/>
            </a:prstGeom>
            <a:solidFill>
              <a:srgbClr val="2E6DC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TextBox 6"/>
            <p:cNvSpPr txBox="1"/>
            <p:nvPr/>
          </p:nvSpPr>
          <p:spPr>
            <a:xfrm>
              <a:off x="1035678" y="4691931"/>
              <a:ext cx="1115327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TW" altLang="zh-TW" sz="2000" b="1" dirty="0">
                  <a:solidFill>
                    <a:schemeClr val="bg1"/>
                  </a:solidFill>
                </a:rPr>
                <a:t>Action Masking</a:t>
              </a:r>
              <a:endParaRPr lang="zh-TW" altLang="zh-TW" sz="2000" dirty="0">
                <a:solidFill>
                  <a:schemeClr val="bg1"/>
                </a:solidFill>
              </a:endParaRPr>
            </a:p>
          </p:txBody>
        </p:sp>
        <p:sp>
          <p:nvSpPr>
            <p:cNvPr id="36" name="TextBox 7"/>
            <p:cNvSpPr txBox="1"/>
            <p:nvPr/>
          </p:nvSpPr>
          <p:spPr>
            <a:xfrm>
              <a:off x="1063110" y="5213139"/>
              <a:ext cx="10295330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lvl="0" indent="-342900" defTabSz="9144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zh-TW" altLang="zh-TW" sz="2000" dirty="0"/>
                <a:t>env.action_masks() returns a (192,) bool array. </a:t>
              </a:r>
            </a:p>
            <a:p>
              <a:pPr marL="342900" lvl="0" indent="-342900" defTabSz="9144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zh-TW" altLang="zh-TW" sz="2000" dirty="0"/>
                <a:t>Masks out-of-bounds, overlapping, and already-used piece slots. </a:t>
              </a:r>
            </a:p>
            <a:p>
              <a:pPr marL="342900" lvl="0" indent="-342900" defTabSz="9144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zh-TW" altLang="zh-TW" sz="2000" dirty="0"/>
                <a:t>Episode terminates when all actions are masked.</a:t>
              </a:r>
            </a:p>
          </p:txBody>
        </p:sp>
      </p:grpSp>
      <p:sp>
        <p:nvSpPr>
          <p:cNvPr id="38" name="投影片編號版面配置區 3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2686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6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Environment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3810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7" name="表格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7414878"/>
              </p:ext>
            </p:extLst>
          </p:nvPr>
        </p:nvGraphicFramePr>
        <p:xfrm>
          <a:off x="925917" y="2172264"/>
          <a:ext cx="10336992" cy="3836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9009">
                  <a:extLst>
                    <a:ext uri="{9D8B030D-6E8A-4147-A177-3AD203B41FA5}">
                      <a16:colId xmlns:a16="http://schemas.microsoft.com/office/drawing/2014/main" val="3829608639"/>
                    </a:ext>
                  </a:extLst>
                </a:gridCol>
                <a:gridCol w="3003082">
                  <a:extLst>
                    <a:ext uri="{9D8B030D-6E8A-4147-A177-3AD203B41FA5}">
                      <a16:colId xmlns:a16="http://schemas.microsoft.com/office/drawing/2014/main" val="4111342978"/>
                    </a:ext>
                  </a:extLst>
                </a:gridCol>
                <a:gridCol w="5524901">
                  <a:extLst>
                    <a:ext uri="{9D8B030D-6E8A-4147-A177-3AD203B41FA5}">
                      <a16:colId xmlns:a16="http://schemas.microsoft.com/office/drawing/2014/main" val="3819096913"/>
                    </a:ext>
                  </a:extLst>
                </a:gridCol>
              </a:tblGrid>
              <a:tr h="479962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+mn-lt"/>
                        </a:rPr>
                        <a:t>Field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latin typeface="+mn-lt"/>
                        </a:rPr>
                        <a:t>Shape</a:t>
                      </a:r>
                      <a:endParaRPr lang="zh-TW" altLang="en-US" sz="2000" dirty="0">
                        <a:effectLst/>
                        <a:latin typeface="+mn-lt"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latin typeface="+mn-lt"/>
                        </a:rPr>
                        <a:t>Description</a:t>
                      </a:r>
                      <a:endParaRPr lang="zh-TW" altLang="en-US" sz="2000" dirty="0">
                        <a:effectLst/>
                        <a:latin typeface="+mn-lt"/>
                      </a:endParaRP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2102328433"/>
                  </a:ext>
                </a:extLst>
              </a:tr>
              <a:tr h="479962">
                <a:tc>
                  <a:txBody>
                    <a:bodyPr/>
                    <a:lstStyle/>
                    <a:p>
                      <a:r>
                        <a:rPr lang="en-US" sz="2000" dirty="0">
                          <a:effectLst/>
                          <a:latin typeface="+mn-lt"/>
                        </a:rPr>
                        <a:t>board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effectLst/>
                          <a:latin typeface="+mn-lt"/>
                        </a:rPr>
                        <a:t>(8, 8) float32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latin typeface="+mn-lt"/>
                        </a:rPr>
                        <a:t>Board grid; 0 = empty, 1 = filled.</a:t>
                      </a:r>
                      <a:endParaRPr lang="zh-TW" altLang="en-US" sz="2000" dirty="0"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468447498"/>
                  </a:ext>
                </a:extLst>
              </a:tr>
              <a:tr h="1114432">
                <a:tc>
                  <a:txBody>
                    <a:bodyPr/>
                    <a:lstStyle/>
                    <a:p>
                      <a:r>
                        <a:rPr lang="en-US" sz="2000" dirty="0">
                          <a:effectLst/>
                          <a:latin typeface="+mn-lt"/>
                        </a:rPr>
                        <a:t>pieces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effectLst/>
                          <a:latin typeface="+mn-lt"/>
                        </a:rPr>
                        <a:t>(3, 5, 5) float32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latin typeface="+mn-lt"/>
                        </a:rPr>
                        <a:t>Each piece rendered as a 5×5 binary grid; used slots are all zeros.</a:t>
                      </a:r>
                      <a:endParaRPr lang="zh-TW" altLang="en-US" sz="2000" dirty="0"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2444870774"/>
                  </a:ext>
                </a:extLst>
              </a:tr>
              <a:tr h="479962"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  <a:latin typeface="+mn-lt"/>
                        </a:rPr>
                        <a:t>pieces_left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effectLst/>
                          <a:latin typeface="+mn-lt"/>
                        </a:rPr>
                        <a:t>(3,) float32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latin typeface="+mn-lt"/>
                        </a:rPr>
                        <a:t>Binary flags indicating which piece slots remain unused.</a:t>
                      </a:r>
                      <a:endParaRPr lang="zh-TW" altLang="en-US" sz="2000" dirty="0"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3526008847"/>
                  </a:ext>
                </a:extLst>
              </a:tr>
              <a:tr h="1114432"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  <a:latin typeface="+mn-lt"/>
                        </a:rPr>
                        <a:t>heuristics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effectLst/>
                          <a:latin typeface="+mn-lt"/>
                        </a:rPr>
                        <a:t>(40,) float32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latin typeface="+mn-lt"/>
                        </a:rPr>
                        <a:t>Hand-crafted features: column heights, holes, bumpiness, etc.; normalized to [0, 1].</a:t>
                      </a:r>
                      <a:endParaRPr lang="en-US" altLang="zh-TW" sz="2000" dirty="0">
                        <a:effectLst/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2082848802"/>
                  </a:ext>
                </a:extLst>
              </a:tr>
            </a:tbl>
          </a:graphicData>
        </a:graphic>
      </p:graphicFrame>
      <p:sp>
        <p:nvSpPr>
          <p:cNvPr id="19" name="TextBox 6"/>
          <p:cNvSpPr txBox="1"/>
          <p:nvPr/>
        </p:nvSpPr>
        <p:spPr>
          <a:xfrm>
            <a:off x="457200" y="1170432"/>
            <a:ext cx="35661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2E6DC8"/>
                </a:solidFill>
              </a:rPr>
              <a:t>Observation Space</a:t>
            </a:r>
          </a:p>
        </p:txBody>
      </p:sp>
      <p:sp>
        <p:nvSpPr>
          <p:cNvPr id="20" name="投影片編號版面配置區 1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6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 dirty="0">
                <a:solidFill>
                  <a:srgbClr val="FFFFFF"/>
                </a:solidFill>
              </a:rPr>
              <a:t>PPO-AF: What is an Afterstate?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DDFF"/>
                </a:solidFill>
              </a:rPr>
              <a:t>Concept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3810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80" y="1143000"/>
            <a:ext cx="1463040" cy="292608"/>
          </a:xfrm>
          <a:prstGeom prst="rect">
            <a:avLst/>
          </a:prstGeom>
          <a:solidFill>
            <a:srgbClr val="E2ECF9"/>
          </a:solidFill>
          <a:ln w="12700">
            <a:solidFill>
              <a:srgbClr val="2E6D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84632" y="1161288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6DC8"/>
                </a:solidFill>
              </a:rPr>
              <a:t>Concept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508760"/>
            <a:ext cx="113659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 dirty="0">
                <a:solidFill>
                  <a:srgbClr val="1E1E2E"/>
                </a:solidFill>
              </a:rPr>
              <a:t>An </a:t>
            </a:r>
            <a:r>
              <a:rPr sz="2100" b="0" i="0" dirty="0" err="1">
                <a:solidFill>
                  <a:srgbClr val="1E1E2E"/>
                </a:solidFill>
              </a:rPr>
              <a:t>afterstate</a:t>
            </a:r>
            <a:r>
              <a:rPr sz="2100" b="0" i="0" dirty="0">
                <a:solidFill>
                  <a:srgbClr val="1E1E2E"/>
                </a:solidFill>
              </a:rPr>
              <a:t> is the board configuration that results immediately after an action is taken — before the environment deals new pieces.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5806440"/>
            <a:ext cx="113659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335599"/>
                </a:solidFill>
              </a:rPr>
              <a:t>Key insight: afterstates from different (s, a) pairs may be identical, allowing the critic to generalize across action paths that lead to the same board.</a:t>
            </a:r>
          </a:p>
        </p:txBody>
      </p:sp>
      <p:sp>
        <p:nvSpPr>
          <p:cNvPr id="12" name="投影片編號版面配置區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  <p:sp>
        <p:nvSpPr>
          <p:cNvPr id="13" name="Rectangle 24"/>
          <p:cNvSpPr/>
          <p:nvPr/>
        </p:nvSpPr>
        <p:spPr>
          <a:xfrm>
            <a:off x="247267" y="3499153"/>
            <a:ext cx="1740728" cy="695810"/>
          </a:xfrm>
          <a:prstGeom prst="rect">
            <a:avLst/>
          </a:prstGeom>
          <a:solidFill>
            <a:srgbClr val="D4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schemeClr val="tx1"/>
                </a:solidFill>
              </a:rPr>
              <a:t>State (s</a:t>
            </a:r>
            <a:r>
              <a:rPr lang="en-US" altLang="zh-TW" sz="2400" dirty="0" smtClean="0">
                <a:solidFill>
                  <a:schemeClr val="tx1"/>
                </a:solidFill>
              </a:rPr>
              <a:t>)</a:t>
            </a:r>
            <a:endParaRPr lang="en-US" altLang="zh-TW" sz="2400" dirty="0">
              <a:solidFill>
                <a:schemeClr val="tx1"/>
              </a:solidFill>
            </a:endParaRPr>
          </a:p>
        </p:txBody>
      </p:sp>
      <p:sp>
        <p:nvSpPr>
          <p:cNvPr id="14" name="Rectangle 27"/>
          <p:cNvSpPr/>
          <p:nvPr/>
        </p:nvSpPr>
        <p:spPr>
          <a:xfrm>
            <a:off x="2608482" y="3499153"/>
            <a:ext cx="1949335" cy="695810"/>
          </a:xfrm>
          <a:prstGeom prst="rect">
            <a:avLst/>
          </a:prstGeom>
          <a:solidFill>
            <a:srgbClr val="2E6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Take action a</a:t>
            </a:r>
            <a:endParaRPr sz="2400" dirty="0"/>
          </a:p>
        </p:txBody>
      </p:sp>
      <p:sp>
        <p:nvSpPr>
          <p:cNvPr id="15" name="Rectangle 24"/>
          <p:cNvSpPr/>
          <p:nvPr/>
        </p:nvSpPr>
        <p:spPr>
          <a:xfrm>
            <a:off x="5178304" y="3359860"/>
            <a:ext cx="1740728" cy="974396"/>
          </a:xfrm>
          <a:prstGeom prst="rect">
            <a:avLst/>
          </a:prstGeom>
          <a:solidFill>
            <a:srgbClr val="D4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 smtClean="0">
                <a:solidFill>
                  <a:schemeClr val="tx1"/>
                </a:solidFill>
              </a:rPr>
              <a:t>Afterstate </a:t>
            </a:r>
            <a:r>
              <a:rPr lang="en-US" altLang="zh-TW" sz="2400" dirty="0">
                <a:solidFill>
                  <a:schemeClr val="tx1"/>
                </a:solidFill>
              </a:rPr>
              <a:t>(</a:t>
            </a:r>
            <a:r>
              <a:rPr lang="en-US" altLang="zh-TW" sz="2400" dirty="0" smtClean="0">
                <a:solidFill>
                  <a:schemeClr val="tx1"/>
                </a:solidFill>
              </a:rPr>
              <a:t>s’)</a:t>
            </a:r>
            <a:endParaRPr lang="en-US" altLang="zh-TW" sz="2400" dirty="0">
              <a:solidFill>
                <a:schemeClr val="tx1"/>
              </a:solidFill>
            </a:endParaRPr>
          </a:p>
        </p:txBody>
      </p:sp>
      <p:sp>
        <p:nvSpPr>
          <p:cNvPr id="16" name="Rectangle 27"/>
          <p:cNvSpPr/>
          <p:nvPr/>
        </p:nvSpPr>
        <p:spPr>
          <a:xfrm>
            <a:off x="7539519" y="3372205"/>
            <a:ext cx="1876738" cy="949706"/>
          </a:xfrm>
          <a:prstGeom prst="rect">
            <a:avLst/>
          </a:prstGeom>
          <a:solidFill>
            <a:srgbClr val="2E6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(</a:t>
            </a:r>
            <a:r>
              <a:rPr lang="en-US" sz="2400" dirty="0" err="1" smtClean="0"/>
              <a:t>env</a:t>
            </a:r>
            <a:r>
              <a:rPr lang="en-US" sz="2400" dirty="0" smtClean="0"/>
              <a:t> deals new pieces)</a:t>
            </a:r>
            <a:endParaRPr sz="2400" dirty="0"/>
          </a:p>
        </p:txBody>
      </p:sp>
      <p:sp>
        <p:nvSpPr>
          <p:cNvPr id="17" name="Rectangle 24"/>
          <p:cNvSpPr/>
          <p:nvPr/>
        </p:nvSpPr>
        <p:spPr>
          <a:xfrm>
            <a:off x="10036744" y="3499153"/>
            <a:ext cx="1740728" cy="695810"/>
          </a:xfrm>
          <a:prstGeom prst="rect">
            <a:avLst/>
          </a:prstGeom>
          <a:solidFill>
            <a:srgbClr val="D4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 smtClean="0">
                <a:solidFill>
                  <a:schemeClr val="tx1"/>
                </a:solidFill>
              </a:rPr>
              <a:t>State s+1</a:t>
            </a:r>
            <a:endParaRPr lang="en-US" altLang="zh-TW" sz="2400" dirty="0">
              <a:solidFill>
                <a:schemeClr val="tx1"/>
              </a:solidFill>
            </a:endParaRPr>
          </a:p>
        </p:txBody>
      </p:sp>
      <p:cxnSp>
        <p:nvCxnSpPr>
          <p:cNvPr id="19" name="直線單箭頭接點 18"/>
          <p:cNvCxnSpPr>
            <a:stCxn id="13" idx="3"/>
            <a:endCxn id="14" idx="1"/>
          </p:cNvCxnSpPr>
          <p:nvPr/>
        </p:nvCxnSpPr>
        <p:spPr>
          <a:xfrm>
            <a:off x="1987995" y="3847058"/>
            <a:ext cx="62048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>
            <a:stCxn id="14" idx="3"/>
            <a:endCxn id="15" idx="1"/>
          </p:cNvCxnSpPr>
          <p:nvPr/>
        </p:nvCxnSpPr>
        <p:spPr>
          <a:xfrm>
            <a:off x="4557817" y="3847058"/>
            <a:ext cx="62048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/>
          <p:cNvCxnSpPr>
            <a:stCxn id="15" idx="3"/>
            <a:endCxn id="16" idx="1"/>
          </p:cNvCxnSpPr>
          <p:nvPr/>
        </p:nvCxnSpPr>
        <p:spPr>
          <a:xfrm>
            <a:off x="6919032" y="3847058"/>
            <a:ext cx="62048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線單箭頭接點 25"/>
          <p:cNvCxnSpPr>
            <a:stCxn id="16" idx="3"/>
            <a:endCxn id="17" idx="1"/>
          </p:cNvCxnSpPr>
          <p:nvPr/>
        </p:nvCxnSpPr>
        <p:spPr>
          <a:xfrm>
            <a:off x="9416257" y="3847058"/>
            <a:ext cx="62048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6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 dirty="0">
                <a:solidFill>
                  <a:srgbClr val="FFFFFF"/>
                </a:solidFill>
              </a:rPr>
              <a:t>PPO-AF: Why Afterstate for Block Blast?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DDFF"/>
                </a:solidFill>
              </a:rPr>
              <a:t>Domain Motivation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3810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80" y="1143000"/>
            <a:ext cx="1463040" cy="292608"/>
          </a:xfrm>
          <a:prstGeom prst="rect">
            <a:avLst/>
          </a:prstGeom>
          <a:solidFill>
            <a:srgbClr val="E2ECF9"/>
          </a:solidFill>
          <a:ln w="12700">
            <a:solidFill>
              <a:srgbClr val="2E6D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84632" y="1161288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6DC8"/>
                </a:solidFill>
              </a:rPr>
              <a:t>Motivation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600200"/>
            <a:ext cx="512064" cy="512064"/>
          </a:xfrm>
          <a:prstGeom prst="rect">
            <a:avLst/>
          </a:prstGeom>
          <a:solidFill>
            <a:srgbClr val="2E6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1600200"/>
            <a:ext cx="51206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600200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E6DC8"/>
                </a:solidFill>
              </a:rPr>
              <a:t>Deterministic placement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002536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 dirty="0">
                <a:solidFill>
                  <a:srgbClr val="1E1E2E"/>
                </a:solidFill>
              </a:rPr>
              <a:t>Given (s, a), the resulting board is fully determined.
No </a:t>
            </a:r>
            <a:r>
              <a:rPr sz="1900" b="0" i="0" dirty="0" err="1">
                <a:solidFill>
                  <a:srgbClr val="1E1E2E"/>
                </a:solidFill>
              </a:rPr>
              <a:t>stochasticity</a:t>
            </a:r>
            <a:r>
              <a:rPr sz="1900" b="0" i="0" dirty="0">
                <a:solidFill>
                  <a:srgbClr val="1E1E2E"/>
                </a:solidFill>
              </a:rPr>
              <a:t> between action and </a:t>
            </a:r>
            <a:r>
              <a:rPr sz="1900" b="0" i="0" dirty="0" err="1">
                <a:solidFill>
                  <a:srgbClr val="1E1E2E"/>
                </a:solidFill>
              </a:rPr>
              <a:t>afterstate</a:t>
            </a:r>
            <a:r>
              <a:rPr sz="1900" b="0" i="0" dirty="0">
                <a:solidFill>
                  <a:srgbClr val="1E1E2E"/>
                </a:solidFill>
              </a:rPr>
              <a:t> — a perfect fit.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3200400"/>
            <a:ext cx="512064" cy="512064"/>
          </a:xfrm>
          <a:prstGeom prst="rect">
            <a:avLst/>
          </a:prstGeom>
          <a:solidFill>
            <a:srgbClr val="2E6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1480" y="3200400"/>
            <a:ext cx="51206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200400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E6DC8"/>
                </a:solidFill>
              </a:rPr>
              <a:t>Pieces are noise for the critic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602736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E1E2E"/>
                </a:solidFill>
              </a:rPr>
              <a:t>The 3 incoming pieces vary randomly each round.
A critic conditioned on the board state ignores this irrelevant noise.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4800600"/>
            <a:ext cx="512064" cy="512064"/>
          </a:xfrm>
          <a:prstGeom prst="rect">
            <a:avLst/>
          </a:prstGeom>
          <a:solidFill>
            <a:srgbClr val="2E6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11480" y="4800600"/>
            <a:ext cx="51206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800600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E6DC8"/>
                </a:solidFill>
              </a:rPr>
              <a:t>Board captures all long-term value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5202936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E1E2E"/>
                </a:solidFill>
              </a:rPr>
              <a:t>Future scores depend entirely on the board layout, not on
which pieces happened to be present when the action was taken.</a:t>
            </a:r>
          </a:p>
        </p:txBody>
      </p:sp>
      <p:sp>
        <p:nvSpPr>
          <p:cNvPr id="20" name="投影片編號版面配置區 1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6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PPO-AF: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 dirty="0">
                <a:solidFill>
                  <a:srgbClr val="CCDDFF"/>
                </a:solidFill>
              </a:rPr>
              <a:t>Actor → Afterstate Features  ·  Critic → Board State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3810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80" y="1143000"/>
            <a:ext cx="1463040" cy="292608"/>
          </a:xfrm>
          <a:prstGeom prst="rect">
            <a:avLst/>
          </a:prstGeom>
          <a:solidFill>
            <a:srgbClr val="E2ECF9"/>
          </a:solidFill>
          <a:ln w="12700">
            <a:solidFill>
              <a:srgbClr val="2E6D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84632" y="1161288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6DC8"/>
                </a:solidFill>
              </a:rPr>
              <a:t>Architecture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554480"/>
            <a:ext cx="5120640" cy="4572000"/>
          </a:xfrm>
          <a:prstGeom prst="rect">
            <a:avLst/>
          </a:prstGeom>
          <a:solidFill>
            <a:srgbClr val="F5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1600200"/>
            <a:ext cx="51206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7788AA"/>
                </a:solidFill>
              </a:rPr>
              <a:t>Standard </a:t>
            </a:r>
            <a:r>
              <a:rPr lang="en-US" sz="2000" b="1" i="0" dirty="0" smtClean="0">
                <a:solidFill>
                  <a:srgbClr val="7788AA"/>
                </a:solidFill>
              </a:rPr>
              <a:t>CNN </a:t>
            </a:r>
            <a:r>
              <a:rPr sz="2000" b="1" i="0" dirty="0" smtClean="0">
                <a:solidFill>
                  <a:srgbClr val="7788AA"/>
                </a:solidFill>
              </a:rPr>
              <a:t>PPO</a:t>
            </a:r>
            <a:endParaRPr sz="2000" b="1" i="0" dirty="0">
              <a:solidFill>
                <a:srgbClr val="7788AA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223218" y="2120413"/>
            <a:ext cx="3405724" cy="765513"/>
          </a:xfrm>
          <a:prstGeom prst="rect">
            <a:avLst/>
          </a:prstGeom>
          <a:solidFill>
            <a:srgbClr val="DDE8F8"/>
          </a:solidFill>
          <a:ln w="12700"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chemeClr val="tx1"/>
                </a:solidFill>
              </a:rPr>
              <a:t>S</a:t>
            </a:r>
            <a:r>
              <a:rPr lang="en-US" sz="2400" dirty="0" smtClean="0">
                <a:solidFill>
                  <a:schemeClr val="tx1"/>
                </a:solidFill>
              </a:rPr>
              <a:t>tate (s)</a:t>
            </a:r>
          </a:p>
          <a:p>
            <a:pPr algn="ctr"/>
            <a:r>
              <a:rPr lang="en-US" dirty="0" smtClean="0">
                <a:solidFill>
                  <a:schemeClr val="tx1"/>
                </a:solidFill>
              </a:rPr>
              <a:t>board (8</a:t>
            </a:r>
            <a:r>
              <a:rPr lang="zh-TW" altLang="zh-TW" dirty="0">
                <a:solidFill>
                  <a:schemeClr val="tx1"/>
                </a:solidFill>
              </a:rPr>
              <a:t> × </a:t>
            </a:r>
            <a:r>
              <a:rPr lang="en-US" dirty="0" smtClean="0">
                <a:solidFill>
                  <a:schemeClr val="tx1"/>
                </a:solidFill>
              </a:rPr>
              <a:t>8) + pieces (3</a:t>
            </a:r>
            <a:r>
              <a:rPr lang="zh-TW" altLang="zh-TW" dirty="0">
                <a:solidFill>
                  <a:schemeClr val="tx1"/>
                </a:solidFill>
              </a:rPr>
              <a:t> </a:t>
            </a:r>
            <a:r>
              <a:rPr lang="zh-TW" altLang="zh-TW" dirty="0" smtClean="0">
                <a:solidFill>
                  <a:schemeClr val="tx1"/>
                </a:solidFill>
              </a:rPr>
              <a:t>×</a:t>
            </a:r>
            <a:r>
              <a:rPr lang="en-US" altLang="zh-TW" dirty="0" smtClean="0">
                <a:solidFill>
                  <a:schemeClr val="tx1"/>
                </a:solidFill>
              </a:rPr>
              <a:t>5</a:t>
            </a:r>
            <a:r>
              <a:rPr lang="zh-TW" altLang="zh-TW" dirty="0">
                <a:solidFill>
                  <a:schemeClr val="tx1"/>
                </a:solidFill>
              </a:rPr>
              <a:t> </a:t>
            </a:r>
            <a:r>
              <a:rPr lang="zh-TW" altLang="zh-TW" dirty="0" smtClean="0">
                <a:solidFill>
                  <a:schemeClr val="tx1"/>
                </a:solidFill>
              </a:rPr>
              <a:t>×</a:t>
            </a:r>
            <a:r>
              <a:rPr lang="en-US" altLang="zh-TW" dirty="0" smtClean="0">
                <a:solidFill>
                  <a:schemeClr val="tx1"/>
                </a:solidFill>
              </a:rPr>
              <a:t>5)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227617" y="3393332"/>
            <a:ext cx="3401325" cy="847544"/>
          </a:xfrm>
          <a:prstGeom prst="rect">
            <a:avLst/>
          </a:prstGeom>
          <a:solidFill>
            <a:srgbClr val="DDE8F8"/>
          </a:solidFill>
          <a:ln w="12700"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chemeClr val="tx1"/>
                </a:solidFill>
              </a:rPr>
              <a:t>CNN Encoder</a:t>
            </a:r>
          </a:p>
          <a:p>
            <a:pPr algn="ctr"/>
            <a:r>
              <a:rPr lang="en-US" dirty="0" smtClean="0">
                <a:solidFill>
                  <a:schemeClr val="tx1"/>
                </a:solidFill>
              </a:rPr>
              <a:t>Conv </a:t>
            </a:r>
            <a:r>
              <a:rPr lang="en-US" dirty="0" smtClean="0">
                <a:solidFill>
                  <a:schemeClr val="tx1"/>
                </a:solidFill>
                <a:sym typeface="Symbol" panose="05050102010706020507" pitchFamily="18" charset="2"/>
              </a:rPr>
              <a:t> Conv</a:t>
            </a:r>
            <a:r>
              <a:rPr lang="en-US" altLang="zh-TW" dirty="0" smtClean="0">
                <a:solidFill>
                  <a:schemeClr val="tx1"/>
                </a:solidFill>
                <a:sym typeface="Symbol" panose="05050102010706020507" pitchFamily="18" charset="2"/>
              </a:rPr>
              <a:t>  FC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41118" y="4662235"/>
            <a:ext cx="2201834" cy="575804"/>
          </a:xfrm>
          <a:prstGeom prst="rect">
            <a:avLst/>
          </a:prstGeom>
          <a:solidFill>
            <a:srgbClr val="DDE8F8"/>
          </a:solidFill>
          <a:ln w="12700"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ysClr val="windowText" lastClr="000000"/>
                </a:solidFill>
              </a:rPr>
              <a:t>Actor</a:t>
            </a:r>
            <a:endParaRPr sz="2400" dirty="0">
              <a:solidFill>
                <a:sysClr val="windowText" lastClr="000000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082463" y="4662235"/>
            <a:ext cx="2201834" cy="575804"/>
          </a:xfrm>
          <a:prstGeom prst="rect">
            <a:avLst/>
          </a:prstGeom>
          <a:solidFill>
            <a:srgbClr val="DDE8F8"/>
          </a:solidFill>
          <a:ln w="12700"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ysClr val="windowText" lastClr="000000"/>
                </a:solidFill>
              </a:rPr>
              <a:t>Critic</a:t>
            </a:r>
            <a:endParaRPr sz="2400" dirty="0">
              <a:solidFill>
                <a:sysClr val="windowText" lastClr="00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765786" y="2932126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 dirty="0">
                <a:solidFill>
                  <a:srgbClr val="8899BB"/>
                </a:solidFill>
              </a:rPr>
              <a:t>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235705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 dirty="0">
                <a:solidFill>
                  <a:srgbClr val="8899BB"/>
                </a:solidFill>
              </a:rPr>
              <a:t>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97580" y="524500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 dirty="0">
                <a:solidFill>
                  <a:srgbClr val="667799"/>
                </a:solidFill>
              </a:rPr>
              <a:t>V(s)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635" y="528201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 dirty="0">
                <a:solidFill>
                  <a:srgbClr val="667799"/>
                </a:solidFill>
              </a:rPr>
              <a:t>π(</a:t>
            </a:r>
            <a:r>
              <a:rPr sz="1700" b="0" i="1" dirty="0" err="1">
                <a:solidFill>
                  <a:srgbClr val="667799"/>
                </a:solidFill>
              </a:rPr>
              <a:t>a|s</a:t>
            </a:r>
            <a:r>
              <a:rPr sz="1700" b="0" i="1" dirty="0">
                <a:solidFill>
                  <a:srgbClr val="667799"/>
                </a:solidFill>
              </a:rPr>
              <a:t>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1554480"/>
            <a:ext cx="5257800" cy="4572000"/>
          </a:xfrm>
          <a:prstGeom prst="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83680" y="1600200"/>
            <a:ext cx="5257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 smtClean="0">
                <a:solidFill>
                  <a:srgbClr val="2E6DC8"/>
                </a:solidFill>
              </a:rPr>
              <a:t>PPO-AF</a:t>
            </a:r>
            <a:endParaRPr sz="2000" b="1" i="0" dirty="0">
              <a:solidFill>
                <a:srgbClr val="2E6DC8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7040880" y="2103120"/>
            <a:ext cx="4297680" cy="695810"/>
          </a:xfrm>
          <a:prstGeom prst="rect">
            <a:avLst/>
          </a:prstGeom>
          <a:solidFill>
            <a:srgbClr val="D4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>
                <a:solidFill>
                  <a:schemeClr val="tx1"/>
                </a:solidFill>
              </a:rPr>
              <a:t>State (s)</a:t>
            </a:r>
          </a:p>
          <a:p>
            <a:pPr algn="ctr"/>
            <a:r>
              <a:rPr lang="en-US" altLang="zh-TW" dirty="0">
                <a:solidFill>
                  <a:schemeClr val="tx1"/>
                </a:solidFill>
              </a:rPr>
              <a:t>board (8 × 8) + pieces (3 ×5 ×5)</a:t>
            </a:r>
            <a:endParaRPr lang="en-US" altLang="zh-TW" dirty="0">
              <a:solidFill>
                <a:schemeClr val="tx1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983980" y="274924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 dirty="0">
                <a:solidFill>
                  <a:srgbClr val="2E6DC8"/>
                </a:solidFill>
              </a:rPr>
              <a:t>↓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78287" y="3105792"/>
            <a:ext cx="4297680" cy="718650"/>
          </a:xfrm>
          <a:prstGeom prst="rect">
            <a:avLst/>
          </a:prstGeom>
          <a:solidFill>
            <a:srgbClr val="2E6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Simulate placement on board</a:t>
            </a:r>
          </a:p>
          <a:p>
            <a:pPr algn="ctr"/>
            <a:r>
              <a:rPr lang="en-US" dirty="0" smtClean="0"/>
              <a:t>Extract 9 board features</a:t>
            </a:r>
            <a:endParaRPr dirty="0"/>
          </a:p>
        </p:txBody>
      </p:sp>
      <p:sp>
        <p:nvSpPr>
          <p:cNvPr id="30" name="TextBox 29"/>
          <p:cNvSpPr txBox="1"/>
          <p:nvPr/>
        </p:nvSpPr>
        <p:spPr>
          <a:xfrm>
            <a:off x="8983980" y="3746831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 dirty="0">
                <a:solidFill>
                  <a:srgbClr val="2E6DC8"/>
                </a:solidFill>
              </a:rPr>
              <a:t>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078287" y="4108204"/>
            <a:ext cx="4297680" cy="731961"/>
          </a:xfrm>
          <a:prstGeom prst="rect">
            <a:avLst/>
          </a:prstGeom>
          <a:solidFill>
            <a:srgbClr val="D4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Shared Linear</a:t>
            </a:r>
          </a:p>
          <a:p>
            <a:pPr algn="ctr"/>
            <a:r>
              <a:rPr lang="en-US" dirty="0" smtClean="0">
                <a:solidFill>
                  <a:schemeClr val="tx1"/>
                </a:solidFill>
              </a:rPr>
              <a:t>Scores each action’s </a:t>
            </a:r>
            <a:r>
              <a:rPr lang="en-US" dirty="0" err="1" smtClean="0">
                <a:solidFill>
                  <a:schemeClr val="tx1"/>
                </a:solidFill>
              </a:rPr>
              <a:t>afterstate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789129" y="4800353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 dirty="0">
                <a:solidFill>
                  <a:srgbClr val="2E6DC8"/>
                </a:solidFill>
              </a:rPr>
              <a:t>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441180" y="5190578"/>
            <a:ext cx="2005710" cy="502920"/>
          </a:xfrm>
          <a:prstGeom prst="rect">
            <a:avLst/>
          </a:prstGeom>
          <a:solidFill>
            <a:srgbClr val="2E6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Critic</a:t>
            </a:r>
            <a:endParaRPr dirty="0"/>
          </a:p>
        </p:txBody>
      </p:sp>
      <p:sp>
        <p:nvSpPr>
          <p:cNvPr id="36" name="TextBox 35"/>
          <p:cNvSpPr txBox="1"/>
          <p:nvPr/>
        </p:nvSpPr>
        <p:spPr>
          <a:xfrm>
            <a:off x="9758235" y="5723871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1" dirty="0">
                <a:solidFill>
                  <a:srgbClr val="2E6DC8"/>
                </a:solidFill>
              </a:rPr>
              <a:t>V(ŝ)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0" y="3474720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BBCCDD"/>
                </a:solidFill>
              </a:rPr>
              <a:t>vs.</a:t>
            </a:r>
          </a:p>
        </p:txBody>
      </p:sp>
      <p:sp>
        <p:nvSpPr>
          <p:cNvPr id="42" name="投影片編號版面配置區 4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  <p:sp>
        <p:nvSpPr>
          <p:cNvPr id="46" name="TextBox 18"/>
          <p:cNvSpPr txBox="1"/>
          <p:nvPr/>
        </p:nvSpPr>
        <p:spPr>
          <a:xfrm>
            <a:off x="3726180" y="4235705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 dirty="0">
                <a:solidFill>
                  <a:srgbClr val="8899BB"/>
                </a:solidFill>
              </a:rPr>
              <a:t>↓</a:t>
            </a:r>
          </a:p>
        </p:txBody>
      </p:sp>
      <p:sp>
        <p:nvSpPr>
          <p:cNvPr id="52" name="Rectangle 33"/>
          <p:cNvSpPr/>
          <p:nvPr/>
        </p:nvSpPr>
        <p:spPr>
          <a:xfrm>
            <a:off x="7078287" y="5173733"/>
            <a:ext cx="2002656" cy="502920"/>
          </a:xfrm>
          <a:prstGeom prst="rect">
            <a:avLst/>
          </a:prstGeom>
          <a:solidFill>
            <a:srgbClr val="2E6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Actor</a:t>
            </a:r>
            <a:endParaRPr dirty="0"/>
          </a:p>
        </p:txBody>
      </p:sp>
      <p:sp>
        <p:nvSpPr>
          <p:cNvPr id="55" name="矩形 54"/>
          <p:cNvSpPr/>
          <p:nvPr/>
        </p:nvSpPr>
        <p:spPr>
          <a:xfrm>
            <a:off x="7687520" y="5669033"/>
            <a:ext cx="7841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l-GR" altLang="zh-TW" b="1" i="1" dirty="0">
                <a:solidFill>
                  <a:srgbClr val="2E6DC8"/>
                </a:solidFill>
              </a:rPr>
              <a:t>π(</a:t>
            </a:r>
            <a:r>
              <a:rPr lang="en-US" altLang="zh-TW" b="1" i="1" dirty="0" err="1">
                <a:solidFill>
                  <a:srgbClr val="2E6DC8"/>
                </a:solidFill>
              </a:rPr>
              <a:t>a|s</a:t>
            </a:r>
            <a:r>
              <a:rPr lang="en-US" altLang="zh-TW" b="1" i="1" dirty="0">
                <a:solidFill>
                  <a:srgbClr val="2E6DC8"/>
                </a:solidFill>
              </a:rPr>
              <a:t>)</a:t>
            </a:r>
            <a:endParaRPr lang="en-US" altLang="zh-TW" b="1" i="1" dirty="0">
              <a:solidFill>
                <a:srgbClr val="2E6DC8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6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Method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DDFF"/>
                </a:solidFill>
              </a:rPr>
              <a:t>Baseline · DQN · PPO · PPO-AF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3810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0" name="圖片 8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203" y="2211186"/>
            <a:ext cx="5701083" cy="3664982"/>
          </a:xfrm>
          <a:prstGeom prst="rect">
            <a:avLst/>
          </a:prstGeom>
        </p:spPr>
      </p:pic>
      <p:pic>
        <p:nvPicPr>
          <p:cNvPr id="91" name="圖片 9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0868" y="2211186"/>
            <a:ext cx="5701083" cy="3664982"/>
          </a:xfrm>
          <a:prstGeom prst="rect">
            <a:avLst/>
          </a:prstGeom>
        </p:spPr>
      </p:pic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5295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6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Method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DDFF"/>
                </a:solidFill>
              </a:rPr>
              <a:t>Baseline · DQN · PPO · PPO-AF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3810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654" y="2057400"/>
            <a:ext cx="5745693" cy="3192052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6193" y="2057400"/>
            <a:ext cx="5829024" cy="3238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9904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6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DDFF"/>
                </a:solidFill>
              </a:rPr>
              <a:t>Live Gameplay Visualization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3810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1188720"/>
            <a:ext cx="113659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TW" sz="2800" b="1" dirty="0" smtClean="0">
                <a:solidFill>
                  <a:srgbClr val="2E6DC8"/>
                </a:solidFill>
              </a:rPr>
              <a:t>Baseline</a:t>
            </a:r>
            <a:r>
              <a:rPr sz="2800" b="1" i="0" dirty="0" smtClean="0">
                <a:solidFill>
                  <a:srgbClr val="2E6DC8"/>
                </a:solidFill>
              </a:rPr>
              <a:t> </a:t>
            </a:r>
            <a:r>
              <a:rPr sz="2800" b="1" i="0" dirty="0">
                <a:solidFill>
                  <a:srgbClr val="2E6DC8"/>
                </a:solidFill>
              </a:rPr>
              <a:t>agent playing Block Blast</a:t>
            </a:r>
          </a:p>
        </p:txBody>
      </p:sp>
      <p:pic>
        <p:nvPicPr>
          <p:cNvPr id="11" name="greedy_best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520862" y="2569544"/>
            <a:ext cx="5256610" cy="3542498"/>
          </a:xfrm>
          <a:prstGeom prst="rect">
            <a:avLst/>
          </a:prstGeom>
        </p:spPr>
      </p:pic>
      <p:pic>
        <p:nvPicPr>
          <p:cNvPr id="12" name="random_best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493713" y="2569544"/>
            <a:ext cx="5256610" cy="3542498"/>
          </a:xfrm>
          <a:prstGeom prst="rect">
            <a:avLst/>
          </a:prstGeom>
        </p:spPr>
      </p:pic>
      <p:sp>
        <p:nvSpPr>
          <p:cNvPr id="13" name="圓角矩形 12"/>
          <p:cNvSpPr/>
          <p:nvPr/>
        </p:nvSpPr>
        <p:spPr>
          <a:xfrm>
            <a:off x="2411464" y="1909164"/>
            <a:ext cx="1421107" cy="490487"/>
          </a:xfrm>
          <a:prstGeom prst="roundRect">
            <a:avLst/>
          </a:prstGeom>
          <a:solidFill>
            <a:srgbClr val="2E6D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 smtClean="0"/>
              <a:t>Random</a:t>
            </a:r>
            <a:endParaRPr lang="zh-TW" altLang="en-US" sz="2000" b="1" dirty="0"/>
          </a:p>
        </p:txBody>
      </p:sp>
      <p:sp>
        <p:nvSpPr>
          <p:cNvPr id="14" name="圓角矩形 13"/>
          <p:cNvSpPr/>
          <p:nvPr/>
        </p:nvSpPr>
        <p:spPr>
          <a:xfrm>
            <a:off x="8438613" y="1909163"/>
            <a:ext cx="1421107" cy="490487"/>
          </a:xfrm>
          <a:prstGeom prst="roundRect">
            <a:avLst/>
          </a:prstGeom>
          <a:solidFill>
            <a:srgbClr val="2E6D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 smtClean="0"/>
              <a:t>Greedy</a:t>
            </a:r>
            <a:endParaRPr lang="zh-TW" altLang="en-US" sz="2000" b="1" dirty="0"/>
          </a:p>
        </p:txBody>
      </p:sp>
      <p:sp>
        <p:nvSpPr>
          <p:cNvPr id="15" name="投影片編號版面配置區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video>
              <p:cMediaNode vol="80000">
                <p:cTn id="13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6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DDFF"/>
                </a:solidFill>
              </a:rPr>
              <a:t>Live Gameplay Visualization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3810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1188720"/>
            <a:ext cx="113659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2E6DC8"/>
                </a:solidFill>
              </a:rPr>
              <a:t>PPO-AF agent playing Block Blast</a:t>
            </a:r>
          </a:p>
        </p:txBody>
      </p:sp>
      <p:pic>
        <p:nvPicPr>
          <p:cNvPr id="10" name="ppo_af_best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589276" y="1737360"/>
            <a:ext cx="7010400" cy="4724400"/>
          </a:xfrm>
          <a:prstGeom prst="rect">
            <a:avLst/>
          </a:prstGeom>
        </p:spPr>
      </p:pic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574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6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3810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79" y="1188720"/>
            <a:ext cx="1131209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2E6DC8"/>
                </a:solidFill>
              </a:rPr>
              <a:t>Summary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79" y="1650968"/>
            <a:ext cx="11123556" cy="25400"/>
          </a:xfrm>
          <a:prstGeom prst="rect">
            <a:avLst/>
          </a:prstGeom>
          <a:solidFill>
            <a:srgbClr val="2E6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5746" y="1813998"/>
            <a:ext cx="1112355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400" dirty="0"/>
              <a:t>We built a Block Blast Gymnasium environment with 192 discrete actions and action masking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400" dirty="0"/>
              <a:t>We compared Random, Greedy, DQN, and PPO on a shared CNN backbone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400" dirty="0"/>
              <a:t>We validated that </a:t>
            </a:r>
            <a:r>
              <a:rPr lang="en-US" altLang="zh-TW" sz="2400" b="1" dirty="0"/>
              <a:t>PPO-AF</a:t>
            </a:r>
            <a:r>
              <a:rPr lang="en-US" altLang="zh-TW" sz="2400" dirty="0"/>
              <a:t> — a board-aware </a:t>
            </a:r>
            <a:r>
              <a:rPr lang="en-US" altLang="zh-TW" sz="2400" dirty="0" err="1"/>
              <a:t>afterstate</a:t>
            </a:r>
            <a:r>
              <a:rPr lang="en-US" altLang="zh-TW" sz="2400" dirty="0"/>
              <a:t> critic — is highly effective on Block Blast, achieving </a:t>
            </a:r>
            <a:r>
              <a:rPr lang="en-US" altLang="zh-TW" sz="2400" b="1" dirty="0"/>
              <a:t>34.41</a:t>
            </a:r>
            <a:r>
              <a:rPr lang="en-US" altLang="zh-TW" sz="2400" dirty="0"/>
              <a:t> mean score vs. </a:t>
            </a:r>
            <a:r>
              <a:rPr lang="en-US" altLang="zh-TW" sz="2400" b="1" dirty="0"/>
              <a:t>4.16</a:t>
            </a:r>
            <a:r>
              <a:rPr lang="en-US" altLang="zh-TW" sz="2400" dirty="0"/>
              <a:t> for standard PPO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752990"/>
            <a:ext cx="111235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2E6DC8"/>
                </a:solidFill>
              </a:rPr>
              <a:t>Future Work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4209678"/>
            <a:ext cx="11123556" cy="25400"/>
          </a:xfrm>
          <a:prstGeom prst="rect">
            <a:avLst/>
          </a:prstGeom>
          <a:solidFill>
            <a:srgbClr val="2E6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5746" y="4413151"/>
            <a:ext cx="1112355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b="1" dirty="0" smtClean="0"/>
              <a:t>Multi-step </a:t>
            </a:r>
            <a:r>
              <a:rPr lang="en-US" altLang="zh-TW" sz="2400" b="1" dirty="0" err="1"/>
              <a:t>lookahead</a:t>
            </a:r>
            <a:r>
              <a:rPr lang="en-US" altLang="zh-TW" sz="2400" dirty="0"/>
              <a:t> — plan across all 3 pieces per round before placing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b="1" dirty="0" smtClean="0"/>
              <a:t>Multi-seed </a:t>
            </a:r>
            <a:r>
              <a:rPr lang="en-US" altLang="zh-TW" sz="2400" b="1" dirty="0"/>
              <a:t>evaluation</a:t>
            </a:r>
            <a:r>
              <a:rPr lang="en-US" altLang="zh-TW" sz="2400" dirty="0"/>
              <a:t> — current results use a single seed; averaging across seeds would strengthen the statistical </a:t>
            </a:r>
            <a:r>
              <a:rPr lang="en-US" altLang="zh-TW" sz="2400" dirty="0" smtClean="0"/>
              <a:t>claim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b="1" dirty="0"/>
              <a:t>Reward shaping tuning</a:t>
            </a:r>
            <a:r>
              <a:rPr lang="en-US" altLang="zh-TW" sz="2400" dirty="0"/>
              <a:t> — the optimal coefficient between sparse and dense reward for PPO-AF is still unexplored (sparse outperformed dense: 34.41 vs 29.66</a:t>
            </a:r>
            <a:r>
              <a:rPr lang="en-US" altLang="zh-TW" sz="2400" dirty="0" smtClean="0"/>
              <a:t>)</a:t>
            </a:r>
            <a:endParaRPr lang="en-US" altLang="zh-TW" sz="2400" dirty="0"/>
          </a:p>
        </p:txBody>
      </p:sp>
      <p:sp>
        <p:nvSpPr>
          <p:cNvPr id="13" name="投影片編號版面配置區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6D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2"/>
          <p:cNvSpPr txBox="1"/>
          <p:nvPr/>
        </p:nvSpPr>
        <p:spPr>
          <a:xfrm>
            <a:off x="411417" y="2828835"/>
            <a:ext cx="1136599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</a:rPr>
              <a:t>Thank You  ·  Q &amp; A</a:t>
            </a: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4892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6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5156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400" b="1" dirty="0" smtClean="0">
                <a:solidFill>
                  <a:srgbClr val="FFFFFF"/>
                </a:solidFill>
              </a:rPr>
              <a:t>Appendix</a:t>
            </a:r>
            <a:endParaRPr sz="3400" b="1" i="0" dirty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3810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投影片編號版面配置區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16</a:t>
            </a:fld>
            <a:endParaRPr lang="en-US"/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6605500"/>
              </p:ext>
            </p:extLst>
          </p:nvPr>
        </p:nvGraphicFramePr>
        <p:xfrm>
          <a:off x="1017871" y="2306910"/>
          <a:ext cx="9736790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1109">
                  <a:extLst>
                    <a:ext uri="{9D8B030D-6E8A-4147-A177-3AD203B41FA5}">
                      <a16:colId xmlns:a16="http://schemas.microsoft.com/office/drawing/2014/main" val="1125423239"/>
                    </a:ext>
                  </a:extLst>
                </a:gridCol>
                <a:gridCol w="6875681">
                  <a:extLst>
                    <a:ext uri="{9D8B030D-6E8A-4147-A177-3AD203B41FA5}">
                      <a16:colId xmlns:a16="http://schemas.microsoft.com/office/drawing/2014/main" val="31119760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Feature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Description</a:t>
                      </a: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4132146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</a:rPr>
                        <a:t>lines_cleared</a:t>
                      </a:r>
                      <a:endParaRPr lang="en-US">
                        <a:effectLst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Rows + columns cleared by this placement</a:t>
                      </a: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7464853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</a:rPr>
                        <a:t>eroded_piece_cells</a:t>
                      </a:r>
                      <a:endParaRPr lang="en-US">
                        <a:effectLst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Piece cells that participated in a cleared line</a:t>
                      </a: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25893831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</a:rPr>
                        <a:t>holes_after</a:t>
                      </a:r>
                      <a:endParaRPr lang="en-US">
                        <a:effectLst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Empty cells with a filled cell above them (holes)</a:t>
                      </a: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39865427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</a:rPr>
                        <a:t>max_height_after</a:t>
                      </a:r>
                      <a:endParaRPr lang="en-US">
                        <a:effectLst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Maximum column height after placement</a:t>
                      </a: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44360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</a:rPr>
                        <a:t>mean_height_after</a:t>
                      </a:r>
                      <a:endParaRPr lang="en-US">
                        <a:effectLst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Mean column height after placement</a:t>
                      </a: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502895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</a:rPr>
                        <a:t>bumpiness_after</a:t>
                      </a:r>
                      <a:endParaRPr lang="en-US">
                        <a:effectLst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Sum of absolute differences between adjacent column heights</a:t>
                      </a: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26856753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</a:rPr>
                        <a:t>row_transitions_after</a:t>
                      </a:r>
                      <a:endParaRPr lang="en-US">
                        <a:effectLst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Number of filled↔empty boundaries within each row</a:t>
                      </a: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23363354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</a:rPr>
                        <a:t>col_transitions_after</a:t>
                      </a:r>
                      <a:endParaRPr lang="en-US">
                        <a:effectLst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Number of filled↔empty boundaries within each column</a:t>
                      </a: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7834055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</a:rPr>
                        <a:t>near_full_count_after</a:t>
                      </a:r>
                      <a:endParaRPr lang="en-US">
                        <a:effectLst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Rows + columns with ≥ 7/8 cells filled (almost ready to clear)</a:t>
                      </a: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850111226"/>
                  </a:ext>
                </a:extLst>
              </a:tr>
            </a:tbl>
          </a:graphicData>
        </a:graphic>
      </p:graphicFrame>
      <p:sp>
        <p:nvSpPr>
          <p:cNvPr id="15" name="TextBox 4"/>
          <p:cNvSpPr txBox="1"/>
          <p:nvPr/>
        </p:nvSpPr>
        <p:spPr>
          <a:xfrm>
            <a:off x="411479" y="1188720"/>
            <a:ext cx="1131209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i="0" dirty="0" smtClean="0">
                <a:solidFill>
                  <a:srgbClr val="2E6DC8"/>
                </a:solidFill>
              </a:rPr>
              <a:t>9 Hand-crafted Features</a:t>
            </a:r>
            <a:endParaRPr sz="2800" b="1" i="0" dirty="0">
              <a:solidFill>
                <a:srgbClr val="2E6DC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33616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6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5156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400" b="1" dirty="0" smtClean="0">
                <a:solidFill>
                  <a:srgbClr val="FFFFFF"/>
                </a:solidFill>
              </a:rPr>
              <a:t>Appendix</a:t>
            </a:r>
            <a:endParaRPr sz="3400" b="1" i="0" dirty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3810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投影片編號版面配置區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17</a:t>
            </a:fld>
            <a:endParaRPr 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2576" y="1610447"/>
            <a:ext cx="7969040" cy="4427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5082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1272</TotalTime>
  <Words>884</Words>
  <Application>Microsoft Office PowerPoint</Application>
  <PresentationFormat>自訂</PresentationFormat>
  <Paragraphs>184</Paragraphs>
  <Slides>17</Slides>
  <Notes>4</Notes>
  <HiddenSlides>0</HiddenSlides>
  <MMClips>3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17</vt:i4>
      </vt:variant>
    </vt:vector>
  </HeadingPairs>
  <TitlesOfParts>
    <vt:vector size="23" baseType="lpstr">
      <vt:lpstr>微軟正黑體</vt:lpstr>
      <vt:lpstr>新細明體</vt:lpstr>
      <vt:lpstr>Arial</vt:lpstr>
      <vt:lpstr>Calibri</vt:lpstr>
      <vt:lpstr>Symbol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subject/>
  <dc:creator/>
  <cp:keywords/>
  <dc:description>generated using python-pptx</dc:description>
  <cp:lastModifiedBy>黃天長</cp:lastModifiedBy>
  <cp:revision>25</cp:revision>
  <dcterms:created xsi:type="dcterms:W3CDTF">2013-01-27T09:14:16Z</dcterms:created>
  <dcterms:modified xsi:type="dcterms:W3CDTF">2026-05-30T07:34:20Z</dcterms:modified>
  <cp:category/>
</cp:coreProperties>
</file>