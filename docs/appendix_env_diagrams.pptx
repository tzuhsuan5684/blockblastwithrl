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089" y="361940"/>
            <a:ext cx="11353516" cy="666733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0" t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1200119"/>
            <a:ext cx="10858228" cy="400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5597"/>
                </a:solidFill>
                <a:latin typeface="Calibri"/>
              </a:rPr>
              <a:t>Observation — 40-D Heuristic Feature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9219" y="6572085"/>
            <a:ext cx="66673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6A6A6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1676358"/>
            <a:ext cx="1127731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Six blocks concatenated into one length-40 vector, each normalized to [0,1], all computed on the </a:t>
            </a:r>
            <a:r>
              <a:rPr sz="1200" b="1">
                <a:solidFill>
                  <a:srgbClr val="2E5597"/>
                </a:solidFill>
                <a:latin typeface="Calibri"/>
              </a:rPr>
              <a:t>current</a:t>
            </a:r>
            <a:r>
              <a:rPr sz="1200" b="0">
                <a:solidFill>
                  <a:srgbClr val="5A5A5A"/>
                </a:solidFill>
                <a:latin typeface="Calibri"/>
              </a:rPr>
              <a:t> board (state):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188" y="2000199"/>
            <a:ext cx="1860503" cy="914377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[0:8]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column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heights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 dims · ÷8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6741" y="2000199"/>
            <a:ext cx="1860503" cy="914377"/>
          </a:xfrm>
          <a:prstGeom prst="rect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[8:16]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holes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 column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 dims · ÷7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6294" y="2000199"/>
            <a:ext cx="1860503" cy="914377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[16:24]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fill counts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 dims · ÷8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00199"/>
            <a:ext cx="1860503" cy="914377"/>
          </a:xfrm>
          <a:prstGeom prst="rect">
            <a:avLst/>
          </a:prstGeom>
          <a:solidFill>
            <a:srgbClr val="5E8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[24:32]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column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fill counts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 dims · ÷8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5400" y="2000199"/>
            <a:ext cx="1860503" cy="914377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[32:39]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bumpiness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 dims · ÷8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54953" y="2000199"/>
            <a:ext cx="1860503" cy="914377"/>
          </a:xfrm>
          <a:prstGeom prst="rect">
            <a:avLst/>
          </a:prstGeom>
          <a:solidFill>
            <a:srgbClr val="B4C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1C1C1C"/>
                </a:solidFill>
                <a:latin typeface="Calibri"/>
              </a:rPr>
              <a:t>[39:40]</a:t>
            </a:r>
          </a:p>
          <a:p>
            <a:pPr algn="ctr"/>
            <a:r>
              <a:rPr sz="1200" b="1">
                <a:solidFill>
                  <a:srgbClr val="1C1C1C"/>
                </a:solidFill>
                <a:latin typeface="Calibri"/>
              </a:rPr>
              <a:t>n_legal</a:t>
            </a:r>
          </a:p>
          <a:p>
            <a:pPr algn="ctr"/>
            <a:r>
              <a:rPr sz="1000" b="0">
                <a:solidFill>
                  <a:srgbClr val="1C1C1C"/>
                </a:solidFill>
                <a:latin typeface="Calibri"/>
              </a:rPr>
              <a:t>1 dim · ÷192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" y="2952676"/>
            <a:ext cx="11277318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6A6A6"/>
                </a:solidFill>
                <a:latin typeface="Calibri"/>
              </a:rPr>
              <a:t>← index 0  ····························································  index 39 →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188" y="3257468"/>
          <a:ext cx="11277317" cy="2000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14"/>
                <a:gridCol w="666733"/>
                <a:gridCol w="6991175"/>
                <a:gridCol w="2190695"/>
              </a:tblGrid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Dims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</a:tr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column heights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Top filled cell → bottom, per column (no gravity: counts gaps)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_column_heights()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holes per column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Empty cells underneath a filled cell, per column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_holes_per_col()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</a:tr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row fill counts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Filled cells in each of the 8 rows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board.sum(axis=1)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column fill counts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Filled cells in each of the 8 columns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board.sum(axis=0)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</a:tr>
              <a:tr h="285742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bumpiness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|height diff| of each adjacent column pair (kept per-pair, not summed)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abs(diff(heights))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285747"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n_legal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  <a:latin typeface="Calibri"/>
                        </a:rPr>
                        <a:t>Number of currently legal actions — a “danger” signal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 wrap="square" lIns="88900" rIns="63500" tIns="25400" bIns="25400"/>
                    <a:lstStyle/>
                    <a:p>
                      <a:pPr algn="l"/>
                      <a:r>
                        <a:rPr sz="1050" b="0">
                          <a:solidFill>
                            <a:srgbClr val="2B3A55"/>
                          </a:solidFill>
                          <a:latin typeface="Consolas"/>
                        </a:rPr>
                        <a:t>count_nonzero(mask)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188" y="5543411"/>
            <a:ext cx="11277318" cy="266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597"/>
                </a:solidFill>
                <a:latin typeface="Calibri"/>
              </a:rPr>
              <a:t>Note: </a:t>
            </a:r>
            <a:r>
              <a:rPr sz="1200" b="0">
                <a:solidFill>
                  <a:srgbClr val="5A5A5A"/>
                </a:solidFill>
                <a:latin typeface="Calibri"/>
              </a:rPr>
              <a:t>distinct from the 9 afterstate features — these are per-row / per-column, </a:t>
            </a:r>
            <a:r>
              <a:rPr sz="1200" b="1">
                <a:solidFill>
                  <a:srgbClr val="2E5597"/>
                </a:solidFill>
                <a:latin typeface="Calibri"/>
              </a:rPr>
              <a:t>normalized</a:t>
            </a:r>
            <a:r>
              <a:rPr sz="1200" b="0">
                <a:solidFill>
                  <a:srgbClr val="5A5A5A"/>
                </a:solidFill>
                <a:latin typeface="Calibri"/>
              </a:rPr>
              <a:t>, on the </a:t>
            </a:r>
            <a:r>
              <a:rPr sz="1200" b="1">
                <a:solidFill>
                  <a:srgbClr val="2E5597"/>
                </a:solidFill>
                <a:latin typeface="Calibri"/>
              </a:rPr>
              <a:t>current</a:t>
            </a:r>
            <a:r>
              <a:rPr sz="1200" b="0">
                <a:solidFill>
                  <a:srgbClr val="5A5A5A"/>
                </a:solidFill>
                <a:latin typeface="Calibri"/>
              </a:rPr>
              <a:t> state, and feed the </a:t>
            </a:r>
            <a:r>
              <a:rPr sz="1200" b="1">
                <a:solidFill>
                  <a:srgbClr val="2E5597"/>
                </a:solidFill>
                <a:latin typeface="Calibri"/>
              </a:rPr>
              <a:t>critic</a:t>
            </a:r>
            <a:r>
              <a:rPr sz="1200" b="0">
                <a:solidFill>
                  <a:srgbClr val="5A5A5A"/>
                </a:solidFill>
                <a:latin typeface="Calibri"/>
              </a:rPr>
              <a:t> V(s).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089" y="361940"/>
            <a:ext cx="11353516" cy="666733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0" tIns="0" bIns="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1200119"/>
            <a:ext cx="10858228" cy="400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5597"/>
                </a:solidFill>
                <a:latin typeface="Calibri"/>
              </a:rPr>
              <a:t>Piece Rendering ↔ Placement: One Shared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9219" y="6572085"/>
            <a:ext cx="66673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A6A6A6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1676358"/>
            <a:ext cx="1127731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The same offsets </a:t>
            </a:r>
            <a:r>
              <a:rPr sz="1200" b="1">
                <a:solidFill>
                  <a:srgbClr val="2B3A55"/>
                </a:solidFill>
                <a:latin typeface="Consolas"/>
              </a:rPr>
              <a:t>(dr, dc)</a:t>
            </a:r>
            <a:r>
              <a:rPr sz="1200" b="0">
                <a:solidFill>
                  <a:srgbClr val="5A5A5A"/>
                </a:solidFill>
                <a:latin typeface="Calibri"/>
              </a:rPr>
              <a:t> define both what the agent sees and where the piece lands.  Anchor = bounding-box </a:t>
            </a:r>
            <a:r>
              <a:rPr sz="1200" b="1">
                <a:solidFill>
                  <a:srgbClr val="2E5597"/>
                </a:solidFill>
                <a:latin typeface="Calibri"/>
              </a:rPr>
              <a:t>top-left</a:t>
            </a:r>
            <a:r>
              <a:rPr sz="1200" b="0">
                <a:solidFill>
                  <a:srgbClr val="5A5A5A"/>
                </a:solidFill>
                <a:latin typeface="Calibri"/>
              </a:rPr>
              <a:t> = cell </a:t>
            </a:r>
            <a:r>
              <a:rPr sz="1200" b="1">
                <a:solidFill>
                  <a:srgbClr val="2B3A55"/>
                </a:solidFill>
                <a:latin typeface="Consolas"/>
              </a:rPr>
              <a:t>(0,0)</a:t>
            </a:r>
            <a:r>
              <a:rPr sz="1200" b="0">
                <a:solidFill>
                  <a:srgbClr val="5A5A5A"/>
                </a:solidFill>
                <a:latin typeface="Calibri"/>
              </a:rPr>
              <a:t>   (example piece: </a:t>
            </a:r>
            <a:r>
              <a:rPr sz="1200" b="1">
                <a:solidFill>
                  <a:srgbClr val="2E5597"/>
                </a:solidFill>
                <a:latin typeface="Calibri"/>
              </a:rPr>
              <a:t>J-0</a:t>
            </a:r>
            <a:r>
              <a:rPr sz="1200" b="0">
                <a:solidFill>
                  <a:srgbClr val="5A5A5A"/>
                </a:solidFill>
                <a:latin typeface="Calibri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61" y="2324041"/>
            <a:ext cx="2400239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E5597"/>
                </a:solidFill>
                <a:latin typeface="Calibri"/>
              </a:rPr>
              <a:t>What the agent SEES</a:t>
            </a:r>
          </a:p>
          <a:p>
            <a:pPr algn="ctr"/>
            <a:r>
              <a:rPr sz="1050" b="0">
                <a:solidFill>
                  <a:srgbClr val="6A6A6A"/>
                </a:solidFill>
                <a:latin typeface="Calibri"/>
              </a:rPr>
              <a:t>pieces[i] — 5×5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06" y="2857428"/>
            <a:ext cx="438139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45" y="2857428"/>
            <a:ext cx="438139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684" y="2857428"/>
            <a:ext cx="438139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823" y="2857428"/>
            <a:ext cx="438139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5962" y="2857428"/>
            <a:ext cx="438139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61" y="3066973"/>
            <a:ext cx="209544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61" y="3505112"/>
            <a:ext cx="209544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61" y="3943251"/>
            <a:ext cx="209544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61" y="4381390"/>
            <a:ext cx="209544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61" y="4819529"/>
            <a:ext cx="209544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406" y="3066973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56" y="3086022"/>
            <a:ext cx="400039" cy="400039"/>
          </a:xfrm>
          <a:prstGeom prst="rect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1545" y="3066973"/>
            <a:ext cx="438139" cy="438139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9684" y="3066973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47823" y="3066973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85962" y="3066973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406" y="3505112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1545" y="3505112"/>
            <a:ext cx="438139" cy="438139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9684" y="3505112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47823" y="3505112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5962" y="3505112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406" y="3943251"/>
            <a:ext cx="438139" cy="438139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1545" y="3943251"/>
            <a:ext cx="438139" cy="438139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9684" y="3943251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47823" y="3943251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85962" y="3943251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406" y="4381390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1545" y="4381390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09684" y="4381390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47823" y="4381390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85962" y="4381390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3406" y="4819529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71545" y="4819529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09684" y="4819529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47823" y="4819529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85962" y="4819529"/>
            <a:ext cx="438139" cy="438139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238" y="5314817"/>
            <a:ext cx="304792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2B3A55"/>
                </a:solidFill>
                <a:latin typeface="Consolas"/>
              </a:rPr>
              <a:t>shape_to_grid(): grid[dr][dc] 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62380" y="2971725"/>
            <a:ext cx="2247843" cy="914377"/>
          </a:xfrm>
          <a:prstGeom prst="roundRect">
            <a:avLst/>
          </a:prstGeom>
          <a:solidFill>
            <a:srgbClr val="EEF1F8"/>
          </a:solidFill>
          <a:ln w="12700">
            <a:solidFill>
              <a:srgbClr val="CD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2B3A55"/>
                </a:solidFill>
                <a:latin typeface="Consolas"/>
              </a:rPr>
              <a:t>action (</a:t>
            </a:r>
            <a:r>
              <a:rPr sz="1300" b="1">
                <a:solidFill>
                  <a:srgbClr val="ED7D31"/>
                </a:solidFill>
                <a:latin typeface="Consolas"/>
              </a:rPr>
              <a:t>row=2, col=3</a:t>
            </a:r>
            <a:r>
              <a:rPr sz="1300" b="0">
                <a:solidFill>
                  <a:srgbClr val="2B3A55"/>
                </a:solidFill>
                <a:latin typeface="Consolas"/>
              </a:rPr>
              <a:t>)</a:t>
            </a:r>
          </a:p>
          <a:p>
            <a:pPr algn="ctr"/>
            <a:r>
              <a:rPr sz="700" b="0">
                <a:solidFill>
                  <a:srgbClr val="2B3A55"/>
                </a:solidFill>
                <a:latin typeface="Consolas"/>
              </a:rPr>
              <a:t> </a:t>
            </a:r>
          </a:p>
          <a:p>
            <a:pPr algn="ctr"/>
            <a:r>
              <a:rPr sz="1250" b="0">
                <a:solidFill>
                  <a:srgbClr val="2B3A55"/>
                </a:solidFill>
                <a:latin typeface="Consolas"/>
              </a:rPr>
              <a:t>board[</a:t>
            </a:r>
            <a:r>
              <a:rPr sz="1250" b="1">
                <a:solidFill>
                  <a:srgbClr val="ED7D31"/>
                </a:solidFill>
                <a:latin typeface="Consolas"/>
              </a:rPr>
              <a:t>row</a:t>
            </a:r>
            <a:r>
              <a:rPr sz="1250" b="0">
                <a:solidFill>
                  <a:srgbClr val="2B3A55"/>
                </a:solidFill>
                <a:latin typeface="Consolas"/>
              </a:rPr>
              <a:t>+dr][</a:t>
            </a:r>
            <a:r>
              <a:rPr sz="1250" b="1">
                <a:solidFill>
                  <a:srgbClr val="ED7D31"/>
                </a:solidFill>
                <a:latin typeface="Consolas"/>
              </a:rPr>
              <a:t>col</a:t>
            </a:r>
            <a:r>
              <a:rPr sz="1250" b="0">
                <a:solidFill>
                  <a:srgbClr val="2B3A55"/>
                </a:solidFill>
                <a:latin typeface="Consolas"/>
              </a:rPr>
              <a:t>+dc]=1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333866" y="4057548"/>
            <a:ext cx="914377" cy="457188"/>
          </a:xfrm>
          <a:prstGeom prst="right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62380" y="4686182"/>
            <a:ext cx="2247843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A6A6A"/>
                </a:solidFill>
                <a:latin typeface="Calibri"/>
              </a:rPr>
              <a:t>same (dr,dc)</a:t>
            </a:r>
          </a:p>
          <a:p>
            <a:pPr algn="ctr"/>
            <a:r>
              <a:rPr sz="1050" b="0">
                <a:solidFill>
                  <a:srgbClr val="6A6A6A"/>
                </a:solidFill>
                <a:latin typeface="Calibri"/>
              </a:rPr>
              <a:t>just shifted by the anchor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4661" y="1981150"/>
            <a:ext cx="3257468" cy="438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E5597"/>
                </a:solidFill>
                <a:latin typeface="Calibri"/>
              </a:rPr>
              <a:t>Where it is PLACED</a:t>
            </a:r>
          </a:p>
          <a:p>
            <a:pPr algn="ctr"/>
            <a:r>
              <a:rPr sz="1050" b="0">
                <a:solidFill>
                  <a:srgbClr val="6A6A6A"/>
                </a:solidFill>
                <a:latin typeface="Calibri"/>
              </a:rPr>
              <a:t>board — 8×8 grid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4206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5197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6187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7178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8168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39159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20149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01139" y="2590735"/>
            <a:ext cx="380990" cy="209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4661" y="2800279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24661" y="3181270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4661" y="3562260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4661" y="3943251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4661" y="4324241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24661" y="4705232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4661" y="5086222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4661" y="5467213"/>
            <a:ext cx="209544" cy="380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A6A6A6"/>
                </a:solidFill>
                <a:latin typeface="Calibri"/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34206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15197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96187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77178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258168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39159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20149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01139" y="2800279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34206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15197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96187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77178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58168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639159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020149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401139" y="318127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34206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15197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96187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877178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6227" y="3581310"/>
            <a:ext cx="342891" cy="342891"/>
          </a:xfrm>
          <a:prstGeom prst="rect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58168" y="3562260"/>
            <a:ext cx="380990" cy="380990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39159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020149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401139" y="3562260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34206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15197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496187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77178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58168" y="3943251"/>
            <a:ext cx="380990" cy="380990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639159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020149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401139" y="394325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34206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115197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96187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77178" y="4324241"/>
            <a:ext cx="380990" cy="380990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258168" y="4324241"/>
            <a:ext cx="380990" cy="380990"/>
          </a:xfrm>
          <a:prstGeom prst="rect">
            <a:avLst/>
          </a:prstGeom>
          <a:solidFill>
            <a:srgbClr val="4472C4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39159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020149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401139" y="4324241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34206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15197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96187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877178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258168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639159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020149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401139" y="470523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734206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115197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96187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77178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258168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639159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020149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401139" y="5086222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734206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115197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496187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877178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58168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9159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020149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401139" y="5467213"/>
            <a:ext cx="380990" cy="380990"/>
          </a:xfrm>
          <a:prstGeom prst="rect">
            <a:avLst/>
          </a:prstGeom>
          <a:solidFill>
            <a:srgbClr val="FAFBFD"/>
          </a:solidFill>
          <a:ln w="9525">
            <a:solidFill>
              <a:srgbClr val="C9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24661" y="5867253"/>
            <a:ext cx="325746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2B3A55"/>
                </a:solidFill>
                <a:latin typeface="Consolas"/>
              </a:rPr>
              <a:t>step(): writes (row+dr, col+dc)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188" y="6095847"/>
            <a:ext cx="133346" cy="13334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7683" y="6038699"/>
            <a:ext cx="3428914" cy="2285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A6A6A"/>
                </a:solidFill>
                <a:latin typeface="Calibri"/>
              </a:rPr>
              <a:t>piece cell  (number = same cell on both grids)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76638" y="6095847"/>
            <a:ext cx="133346" cy="133346"/>
          </a:xfrm>
          <a:prstGeom prst="rect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667133" y="6038699"/>
            <a:ext cx="7238819" cy="2285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A6A6A"/>
                </a:solidFill>
                <a:latin typeface="Calibri"/>
              </a:rPr>
              <a:t>anchor (0,0) / (row,col) — </a:t>
            </a:r>
            <a:r>
              <a:rPr sz="1050" b="1">
                <a:solidFill>
                  <a:srgbClr val="2E5597"/>
                </a:solidFill>
                <a:latin typeface="Calibri"/>
              </a:rPr>
              <a:t>may be empty</a:t>
            </a:r>
            <a:r>
              <a:rPr sz="1050" b="0">
                <a:solidFill>
                  <a:srgbClr val="6A6A6A"/>
                </a:solidFill>
                <a:latin typeface="Calibri"/>
              </a:rPr>
              <a:t>; padding always sits bottom-right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7188" y="6381590"/>
            <a:ext cx="11277318" cy="2476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597"/>
                </a:solidFill>
                <a:latin typeface="Calibri"/>
              </a:rPr>
              <a:t>Why it matters: </a:t>
            </a:r>
            <a:r>
              <a:rPr sz="1200" b="0">
                <a:solidFill>
                  <a:srgbClr val="5A5A5A"/>
                </a:solidFill>
                <a:latin typeface="Calibri"/>
              </a:rPr>
              <a:t>the relative shape the agent sees in the 5×5 patch equals the relative footprint it places on the board — no hidden coordinate conversion to learn.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