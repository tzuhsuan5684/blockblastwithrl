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章節頁。這個章節講 PPO——Proximal Policy Optimization，也就是我為我們 agent 用的演算法。我會講它是哪一類方法、讓它運作的數學、以及我怎麼從零實作它。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PPO 的定位。它是 model-free——純粹從經驗學，從不預測遊戲動態。它是 policy-based，直接優化策略（actor），而不是像 DQN 那樣學 Q 值。它是 on-policy——用當前策略剛收集的資料訓練，然後丟掉。和 A2C/A3C 同家族，但更穩定、樣本效率更高。對比 DQN 的 value-based + off-policy，這正是我們專案要比較的兩端。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進數學前先看 PPO 怎麼訓練——三階段迴圈。階段一 rollout：actor 跑 N 步，存狀態、動作、舊 log 機率、獎勵、價值、done。階段二 GAE：凍結網路，一次反向掃描算出優勢與回報。階段三 optimize：打散，用同一批資料做 K 個 epoch。重點：第三階段把同一批資料重複利用 K 個 epoch，而非更新一次就丟——效率大增，但重複利用 on-policy 資料正是搞垮傳統 policy gradient 的元兇。那 PPO 怎麼做到？兩招——重要性採樣與 clip——正是接下來數學要講的。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我們剛看完迴圈和兩招，這頁把整個數學放一起。PPO 其實就四塊：量化策略改變多少的 ratio、量化動作好不好的 advantage、安全更新策略的裁剪目標、把 critic 和探索綁進來、要最大化的總目標。符號先別擔心，一個一個講。這頁當地圖。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第一塊 ratio，也是第一招重要性採樣。新策略對某動作的機率，除以舊策略對同動作的機率。等於 1 沒變、大於 1 更喜歡。因為在重複利用舊策略的資料，這個比率正是修正落差、讓重複利用在數學上成立的東西。用 log 空間算以保數值穩定。這個 ratio 也是接下來要 clip 的量——第二招。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第二塊 advantage——比 critic 預期好或壞？正的強化、負的抑制。怎麼估？兩個極端：單步 TD 只用下一個真實獎勵加 critic 的猜測（bootstrap），穩定、低變異但有偏；Monte-Carlo 用到結束的真實獎勵、不猜，無偏但高變異。GAE 一般化兩者，由 λ 控制（0≈TD、1≈MC，用 0.95）。把遞迴展開，advantage 就是未來 TD error 的指數加權和，衰減 γλ——越遠權重越小，λ 就是變異↔偏差的旋鈕。邊界遞迴重置，價值不跨越遊戲結束。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第三塊是 PPO 核心，也是第二招——流程那頁疑問的答案。同一項取兩版本：未裁剪（一般 policy gradient）與裁剪（比率被壓在 0.8 到 1.2）。取較小、較悲觀的，形成下界，移動太遠得不到獎勵——這正是讓重複利用安全的原因。一句話：好動作設天花板、壞動作設地板，但往錯方向給完整修正梯度。便宜地取代 TRPO 的 trust-region。下一頁逐一說明。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逐情況看。好動作 Â&gt;0：比率在範圍內是正常梯度；超過 1.2，min 切常數、梯度為零——天花板，防過度押注。壞動作 Â&lt;0 對稱：低於 0.8 梯度變平——地板，防過度懲罰。安全情況：壞動作往錯方向、比率暴衝時，未裁剪項更負，min 保留它，給大梯度把策略拉回。所以：天花板、地板，但往錯方向不給通行證。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第四塊把全部綁起來。三項：裁剪目標訓練 actor；均方誤差訓練 critic 預測 GAE returns；熵獎勵保持探索、避免太早崩塌。常被問的細節：價值項在論文『目標』裡是減、在程式碼裡是加。那是因為論文最大化、PyTorch 最小化，程式碼把整個取負號，每項符號都翻。同一條式子、相反慣例。係數 0.5、0.01 沿用 SB3。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實作最重要的細節是動作遮罩。192 個動作任何時刻大多非法——超界、格子已填。每次取樣前把非法動作分數設成負無窮，softmax 後機率為零、熵也為零。沒這步，策略會把大半能力浪費在學不要下非法步。同一個遮罩兼任遊戲結束偵測：沒有合法步就結束。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一個值得提的設計決定：我從零寫 PPO，而不是用 SB3。原因是公平——專案要比較 PPO 與 DQN，只有共用完全相同的網路主幹才有意義，SB3 沒辦法乾淨做到。為了誠實，每個超參數都對齊 SB3 預設值，兩邊都沒為了贏而調。每輪在 8 個平行遊戲收集 1024 步、重複利用十個 epoch。每次更新記錄 approx-KL、clip fraction、explained variance 確認穩定。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這是網路——基礎 actor-critic，也是 DQN 用的同一主幹。棋盤過兩層卷積；三塊棋子過權重共享 encoder、補零到相同空間大小，融合卷積結合，讓網路在空間上推理每塊棋子能放哪。接 pieces_left，再分 actor 與 critic 兩個 head。編碼器兩邊相同，所以 PPO 與 DQN 的差距來自演算法、非網路。融合是在還保持二維時做的——攤平前就把空格和棋子形狀在位置上對齊。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第一個變體加入手工特徵。環境本來就算出 40 個有用數字——各欄高度、洞、表面崎嶇度、剩幾個合法步。與其逼 CNN 從原始輸入重新發現，我透過小 MLP 餵進去、合併到共享層，給 agent 起跑優勢。關鍵是在不修改共享主幹的前提下額外加上，所以比較仍公平。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第二個變體最有趣，而且非常小——不到三千個參數。想法是別評估現在的狀態，改成往前看一步：對每個合法動作，模擬放置，再用九個簡單特徵描述結果棋盤。一個共享線性層為全部 192 個動作打分。微妙但重要：我刻意不正規化這些特徵。actor 只是小初始化的線性層，若壓到 0 到 1，動作分數一開始幾乎一樣，差距小於熵獎勵，策略凍結在均勻隨機、跨不過熵地板。保留原始整數（消兩行就是 2，不是 0.13）才能從第一次更新就分辨好步壞步。afterstate 評估是 Tetris 類遊戲的經典思路。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總結：PPO 是 model-free、policy-based、on-policy 的 actor-critic——和 A2C 同類，但更安全、更省樣本，靠兩個想法：重要性採樣讓我們重複利用每批資料，clip 讓更新穩定。數學四塊：ratio、advantage、裁剪目標、三項損失。我從零實作以共用主幹，對齊 SB3 讓超參數誠實，做了兩個變體——手工特徵、後繼狀態評估。下一章節比較實際表現。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75320" y="3200400"/>
            <a:ext cx="4937760" cy="4937760"/>
          </a:xfrm>
          <a:prstGeom prst="ellipse">
            <a:avLst/>
          </a:prstGeom>
          <a:solidFill>
            <a:srgbClr val="155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737360" y="4297680"/>
            <a:ext cx="3931920" cy="3931920"/>
          </a:xfrm>
          <a:prstGeom prst="ellipse">
            <a:avLst/>
          </a:prstGeom>
          <a:solidFill>
            <a:srgbClr val="155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52360" y="402336"/>
            <a:ext cx="237744" cy="237744"/>
          </a:xfrm>
          <a:prstGeom prst="ellipse">
            <a:avLst/>
          </a:prstGeom>
          <a:solidFill>
            <a:srgbClr val="E8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68" b="1" i="0" spc="200">
                <a:solidFill>
                  <a:srgbClr val="17A294"/>
                </a:solidFill>
                <a:latin typeface="Lato"/>
              </a:rPr>
              <a:t>FINAL REPORT  ·  SECTION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361" b="1" i="0">
                <a:solidFill>
                  <a:srgbClr val="FFFFFF"/>
                </a:solidFill>
                <a:latin typeface="Lato"/>
              </a:rPr>
              <a:t>05 · PPO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01568"/>
            <a:ext cx="960120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51" b="0" i="0">
                <a:solidFill>
                  <a:srgbClr val="5FB0AB"/>
                </a:solidFill>
                <a:latin typeface="Lato"/>
              </a:rPr>
              <a:t>Proximal Policy Optimization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3950208"/>
            <a:ext cx="640080" cy="54864"/>
          </a:xfrm>
          <a:prstGeom prst="rect">
            <a:avLst/>
          </a:prstGeom>
          <a:solidFill>
            <a:srgbClr val="E8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2062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95" b="0" i="0">
                <a:solidFill>
                  <a:srgbClr val="CFDDE2"/>
                </a:solidFill>
                <a:latin typeface="Lato"/>
              </a:rPr>
              <a:t>Algorithm · the math that makes it work · a from-scratch implementation for Block Blast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572000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81" b="0" i="0">
                <a:solidFill>
                  <a:srgbClr val="5FB0AB"/>
                </a:solidFill>
                <a:latin typeface="Lato"/>
              </a:rPr>
              <a:t>Member C  ·  PPO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40080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99" b="0" i="0">
                <a:solidFill>
                  <a:srgbClr val="6A8692"/>
                </a:solidFill>
                <a:latin typeface="Lato"/>
              </a:rPr>
              <a:t>National Central University  ·  RL 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C7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24128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99" b="1" i="0" spc="140">
                <a:solidFill>
                  <a:srgbClr val="5FB0AB"/>
                </a:solidFill>
                <a:latin typeface="Lato"/>
              </a:rPr>
              <a:t>PPO · POSITIONING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937" b="1" i="0">
                <a:solidFill>
                  <a:srgbClr val="FFFFFF"/>
                </a:solidFill>
                <a:latin typeface="Lato"/>
              </a:rPr>
              <a:t>What Kind of Algorithm Is PPO?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365760"/>
            <a:ext cx="137160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355" b="0" i="0">
                <a:solidFill>
                  <a:srgbClr val="BFD7DB"/>
                </a:solidFill>
                <a:latin typeface="Lato"/>
              </a:rPr>
              <a:t>01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11091672" cy="9144"/>
          </a:xfrm>
          <a:prstGeom prst="rect">
            <a:avLst/>
          </a:prstGeom>
          <a:solidFill>
            <a:srgbClr val="DC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86" b="0" i="0">
                <a:solidFill>
                  <a:srgbClr val="7C8A94"/>
                </a:solidFill>
                <a:latin typeface="Lato"/>
              </a:rPr>
              <a:t>Block Blast RL  ·  PPO (Member 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508760"/>
            <a:ext cx="3547872" cy="548640"/>
          </a:xfrm>
          <a:prstGeom prst="rect">
            <a:avLst/>
          </a:prstGeom>
          <a:solidFill>
            <a:srgbClr val="0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08760"/>
            <a:ext cx="3547872" cy="548640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508760"/>
            <a:ext cx="3182112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260" b="1" i="0">
                <a:solidFill>
                  <a:srgbClr val="FFFFFF"/>
                </a:solidFill>
                <a:latin typeface="Lato"/>
              </a:rPr>
              <a:t>Model-Free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057400"/>
            <a:ext cx="3547872" cy="1536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313432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638" b="0" i="0">
                <a:solidFill>
                  <a:srgbClr val="2E3A42"/>
                </a:solidFill>
                <a:latin typeface="Lato"/>
              </a:rPr>
              <a:t>Learns purely from experience — never models the game's transitions.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508760"/>
            <a:ext cx="3547872" cy="548640"/>
          </a:xfrm>
          <a:prstGeom prst="rect">
            <a:avLst/>
          </a:prstGeom>
          <a:solidFill>
            <a:srgbClr val="0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4256" y="1508760"/>
            <a:ext cx="3547872" cy="548640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1508760"/>
            <a:ext cx="3182112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260" b="1" i="0">
                <a:solidFill>
                  <a:srgbClr val="FFFFFF"/>
                </a:solidFill>
                <a:latin typeface="Lato"/>
              </a:rPr>
              <a:t>Policy-Based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34256" y="2057400"/>
            <a:ext cx="3547872" cy="1536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2313432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638" b="0" i="0">
                <a:solidFill>
                  <a:srgbClr val="2E3A42"/>
                </a:solidFill>
                <a:latin typeface="Lato"/>
              </a:rPr>
              <a:t>Actor–critic: directly optimizes the policy π(a|s), not Q-values.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19872" y="1508760"/>
            <a:ext cx="3547872" cy="548640"/>
          </a:xfrm>
          <a:prstGeom prst="rect">
            <a:avLst/>
          </a:prstGeom>
          <a:solidFill>
            <a:srgbClr val="0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19872" y="1508760"/>
            <a:ext cx="3547872" cy="548640"/>
          </a:xfrm>
          <a:prstGeom prst="rect">
            <a:avLst/>
          </a:prstGeom>
          <a:solidFill>
            <a:srgbClr val="E8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7" y="1508760"/>
            <a:ext cx="3182112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260" b="1" i="0">
                <a:solidFill>
                  <a:srgbClr val="FFFFFF"/>
                </a:solidFill>
                <a:latin typeface="Lato"/>
              </a:rPr>
              <a:t>On-Policy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19872" y="2057400"/>
            <a:ext cx="3547872" cy="1536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7" y="2313432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638" b="0" i="0">
                <a:solidFill>
                  <a:srgbClr val="2E3A42"/>
                </a:solidFill>
                <a:latin typeface="Lato"/>
              </a:rPr>
              <a:t>Trains on data the current policy just collected, then discards 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297680"/>
            <a:ext cx="11091672" cy="1371600"/>
          </a:xfrm>
          <a:prstGeom prst="roundRect">
            <a:avLst>
              <a:gd name="adj" fmla="val 3000"/>
            </a:avLst>
          </a:prstGeom>
          <a:solidFill>
            <a:srgbClr val="0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4535424"/>
            <a:ext cx="103601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43" b="1" i="0" spc="140">
                <a:solidFill>
                  <a:srgbClr val="5FB0AB"/>
                </a:solidFill>
                <a:latin typeface="Lato"/>
              </a:rPr>
              <a:t>SAME FAMILY AS A2C / A3C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773168"/>
            <a:ext cx="10506456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7" b="0" i="0">
                <a:solidFill>
                  <a:srgbClr val="FFFFFF"/>
                </a:solidFill>
                <a:latin typeface="Lato"/>
              </a:rPr>
              <a:t>PPO is the same actor–critic family as A2C/A3C — </a:t>
            </a:r>
            <a:r>
              <a:rPr sz="1807" b="1" i="0">
                <a:solidFill>
                  <a:srgbClr val="FFFFFF"/>
                </a:solidFill>
                <a:latin typeface="Lato"/>
              </a:rPr>
              <a:t>but noticeably more stable and more sample-efficient.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695" b="0" i="0">
                <a:solidFill>
                  <a:srgbClr val="CFDDE2"/>
                </a:solidFill>
                <a:latin typeface="Lato"/>
              </a:rPr>
              <a:t>Contrast with our DQN — </a:t>
            </a:r>
            <a:r>
              <a:rPr sz="1695" b="1" i="0">
                <a:solidFill>
                  <a:srgbClr val="E8A23C"/>
                </a:solidFill>
                <a:latin typeface="Lato"/>
              </a:rPr>
              <a:t>value-based + off-policy</a:t>
            </a:r>
            <a:r>
              <a:rPr sz="1695" b="0" i="0">
                <a:solidFill>
                  <a:srgbClr val="CFDDE2"/>
                </a:solidFill>
                <a:latin typeface="Lato"/>
              </a:rPr>
              <a:t>.  That contrast is exactly what the project compares.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C7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24128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99" b="1" i="0" spc="140">
                <a:solidFill>
                  <a:srgbClr val="5FB0AB"/>
                </a:solidFill>
                <a:latin typeface="Lato"/>
              </a:rPr>
              <a:t>PPO · TRAINING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937" b="1" i="0">
                <a:solidFill>
                  <a:srgbClr val="FFFFFF"/>
                </a:solidFill>
                <a:latin typeface="Lato"/>
              </a:rPr>
              <a:t>The PPO Training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365760"/>
            <a:ext cx="137160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355" b="0" i="0">
                <a:solidFill>
                  <a:srgbClr val="BFD7DB"/>
                </a:solidFill>
                <a:latin typeface="Lato"/>
              </a:rPr>
              <a:t>02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11091672" cy="9144"/>
          </a:xfrm>
          <a:prstGeom prst="rect">
            <a:avLst/>
          </a:prstGeom>
          <a:solidFill>
            <a:srgbClr val="DC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86" b="0" i="0">
                <a:solidFill>
                  <a:srgbClr val="7C8A94"/>
                </a:solidFill>
                <a:latin typeface="Lato"/>
              </a:rPr>
              <a:t>Block Blast RL  ·  PPO (Member 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371600"/>
            <a:ext cx="5120640" cy="4297680"/>
          </a:xfrm>
          <a:prstGeom prst="roundRect">
            <a:avLst>
              <a:gd name="adj" fmla="val 4000"/>
            </a:avLst>
          </a:prstGeom>
          <a:solidFill>
            <a:srgbClr val="0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664208"/>
            <a:ext cx="44988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43" b="1" i="0" spc="120">
                <a:solidFill>
                  <a:srgbClr val="5FB0AB"/>
                </a:solidFill>
                <a:latin typeface="Lato"/>
              </a:rPr>
              <a:t>ONE ITERATION = THREE STAGES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1901952"/>
            <a:ext cx="4498848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</a:pPr>
            <a:r>
              <a:rPr sz="3051" b="1" i="0">
                <a:solidFill>
                  <a:srgbClr val="FFFFFF"/>
                </a:solidFill>
                <a:latin typeface="Lato"/>
              </a:rPr>
              <a:t>Collect → GAE →
Optimize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" y="2926080"/>
            <a:ext cx="438912" cy="45720"/>
          </a:xfrm>
          <a:prstGeom prst="rect">
            <a:avLst/>
          </a:prstGeom>
          <a:solidFill>
            <a:srgbClr val="E8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108960"/>
            <a:ext cx="4498848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25" b="0" i="0">
                <a:solidFill>
                  <a:srgbClr val="5FB0AB"/>
                </a:solidFill>
                <a:latin typeface="Lato"/>
              </a:rPr>
              <a:t>Repeat until trained · network frozen during GAE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584448"/>
            <a:ext cx="4498848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525" b="1" i="0">
                <a:solidFill>
                  <a:srgbClr val="E8A23C"/>
                </a:solidFill>
                <a:latin typeface="Lato"/>
              </a:rPr>
              <a:t>1  ROLLOUT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412" b="0" i="0">
                <a:solidFill>
                  <a:srgbClr val="CFDDE2"/>
                </a:solidFill>
                <a:latin typeface="Lato"/>
              </a:rPr>
              <a:t>actor plays N steps; store s, a, logπ_old, r, V, done</a:t>
            </a:r>
          </a:p>
          <a:p>
            <a:pPr algn="l">
              <a:spcAft>
                <a:spcPts val="200"/>
              </a:spcAft>
            </a:pPr>
            <a:r>
              <a:rPr sz="1525" b="1" i="0">
                <a:solidFill>
                  <a:srgbClr val="E8A23C"/>
                </a:solidFill>
                <a:latin typeface="Lato"/>
              </a:rPr>
              <a:t>2  GAE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412" b="0" i="0">
                <a:solidFill>
                  <a:srgbClr val="CFDDE2"/>
                </a:solidFill>
                <a:latin typeface="Lato"/>
              </a:rPr>
              <a:t>backward pass → advantages Â and returns R̂</a:t>
            </a:r>
          </a:p>
          <a:p>
            <a:pPr algn="l">
              <a:spcAft>
                <a:spcPts val="200"/>
              </a:spcAft>
            </a:pPr>
            <a:r>
              <a:rPr sz="1525" b="1" i="0">
                <a:solidFill>
                  <a:srgbClr val="E8A23C"/>
                </a:solidFill>
                <a:latin typeface="Lato"/>
              </a:rPr>
              <a:t>3  OPTIMIZE</a:t>
            </a:r>
          </a:p>
          <a:p>
            <a:pPr algn="l">
              <a:lnSpc>
                <a:spcPct val="115000"/>
              </a:lnSpc>
            </a:pPr>
            <a:r>
              <a:rPr sz="1412" b="0" i="0">
                <a:solidFill>
                  <a:srgbClr val="CFDDE2"/>
                </a:solidFill>
                <a:latin typeface="Lato"/>
              </a:rPr>
              <a:t>shuffle; K epochs of minibatch updates on the SAME batch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61888" y="1371600"/>
            <a:ext cx="5678424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61888" y="1371600"/>
            <a:ext cx="54864" cy="1371600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572768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7" b="1" i="0">
                <a:solidFill>
                  <a:srgbClr val="0E7C86"/>
                </a:solidFill>
                <a:latin typeface="Lato"/>
              </a:rPr>
              <a:t>vs A2C — the efficiency win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847088"/>
            <a:ext cx="51663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81" b="0" i="0">
                <a:solidFill>
                  <a:srgbClr val="2E3A42"/>
                </a:solidFill>
                <a:latin typeface="Lato"/>
              </a:rPr>
              <a:t>Stage 3 reuses the same batch for K epochs instead of discarding it after a single update — far more sample-efficient.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61888" y="2907792"/>
            <a:ext cx="5678424" cy="2761488"/>
          </a:xfrm>
          <a:prstGeom prst="roundRect">
            <a:avLst>
              <a:gd name="adj" fmla="val 3000"/>
            </a:avLst>
          </a:prstGeom>
          <a:solidFill>
            <a:srgbClr val="0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145536"/>
            <a:ext cx="51663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43" b="1" i="0" spc="140">
                <a:solidFill>
                  <a:srgbClr val="E8A23C"/>
                </a:solidFill>
                <a:latin typeface="Lato"/>
              </a:rPr>
              <a:t>BUT — IS THAT SAFE?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40156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751" b="0" i="0">
                <a:solidFill>
                  <a:srgbClr val="FFFFFF"/>
                </a:solidFill>
                <a:latin typeface="Lato"/>
              </a:rPr>
              <a:t>Reusing on-policy data is exactly what breaks vanilla policy gradient. So how does PPO get away with it?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133087"/>
            <a:ext cx="51663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43" b="1" i="0" spc="120">
                <a:solidFill>
                  <a:srgbClr val="5FB0AB"/>
                </a:solidFill>
                <a:latin typeface="Lato"/>
              </a:rPr>
              <a:t>TWO TRICKS — COMING UP IN THE MATH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389120"/>
            <a:ext cx="516636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800"/>
              </a:spcAft>
            </a:pPr>
            <a:r>
              <a:rPr sz="1638" b="1" i="0">
                <a:solidFill>
                  <a:srgbClr val="FFFFFF"/>
                </a:solidFill>
                <a:latin typeface="Lato"/>
              </a:rPr>
              <a:t>Importance sampling (rₜ)</a:t>
            </a:r>
            <a:r>
              <a:rPr sz="1638" b="0" i="0">
                <a:solidFill>
                  <a:srgbClr val="CFDDE2"/>
                </a:solidFill>
                <a:latin typeface="Lato"/>
              </a:rPr>
              <a:t>  →  makes the reuse correct</a:t>
            </a:r>
          </a:p>
          <a:p>
            <a:pPr algn="l"/>
            <a:r>
              <a:rPr sz="1638" b="1" i="0">
                <a:solidFill>
                  <a:srgbClr val="FFFFFF"/>
                </a:solidFill>
                <a:latin typeface="Lato"/>
              </a:rPr>
              <a:t>Clipping</a:t>
            </a:r>
            <a:r>
              <a:rPr sz="1638" b="0" i="0">
                <a:solidFill>
                  <a:srgbClr val="CFDDE2"/>
                </a:solidFill>
                <a:latin typeface="Lato"/>
              </a:rPr>
              <a:t>  →  keeps every reuse step small → stable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C7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24128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99" b="1" i="0" spc="140">
                <a:solidFill>
                  <a:srgbClr val="5FB0AB"/>
                </a:solidFill>
                <a:latin typeface="Lato"/>
              </a:rPr>
              <a:t>PPO · MATH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937" b="1" i="0">
                <a:solidFill>
                  <a:srgbClr val="FFFFFF"/>
                </a:solidFill>
                <a:latin typeface="Lato"/>
              </a:rPr>
              <a:t>The Math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365760"/>
            <a:ext cx="137160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355" b="0" i="0">
                <a:solidFill>
                  <a:srgbClr val="BFD7DB"/>
                </a:solidFill>
                <a:latin typeface="Lato"/>
              </a:rPr>
              <a:t>03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11091672" cy="9144"/>
          </a:xfrm>
          <a:prstGeom prst="rect">
            <a:avLst/>
          </a:prstGeom>
          <a:solidFill>
            <a:srgbClr val="DC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86" b="0" i="0">
                <a:solidFill>
                  <a:srgbClr val="7C8A94"/>
                </a:solidFill>
                <a:latin typeface="Lato"/>
              </a:rPr>
              <a:t>Block Blast RL  ·  PPO (Member 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107899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38" b="0" i="0">
                <a:solidFill>
                  <a:srgbClr val="7C8A94"/>
                </a:solidFill>
                <a:latin typeface="Lato"/>
              </a:rPr>
              <a:t>Two tricks plus two more pieces — four formulas. We walk through each next.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27632"/>
            <a:ext cx="5376672" cy="17556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627632"/>
            <a:ext cx="54864" cy="1755648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847088"/>
            <a:ext cx="491947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33" b="1" i="0">
                <a:solidFill>
                  <a:srgbClr val="2E3A42"/>
                </a:solidFill>
                <a:latin typeface="Lato"/>
              </a:rPr>
              <a:t>1  Probability ratio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121408"/>
            <a:ext cx="491947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68" b="0" i="1">
                <a:solidFill>
                  <a:srgbClr val="7C8A94"/>
                </a:solidFill>
                <a:latin typeface="Lato"/>
              </a:rPr>
              <a:t>how much the policy changed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" y="2468880"/>
            <a:ext cx="4864608" cy="585216"/>
          </a:xfrm>
          <a:prstGeom prst="roundRect">
            <a:avLst>
              <a:gd name="adj" fmla="val 8000"/>
            </a:avLst>
          </a:prstGeom>
          <a:solidFill>
            <a:srgbClr val="E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468880"/>
            <a:ext cx="4645152" cy="5852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751" b="1" i="0">
                <a:solidFill>
                  <a:srgbClr val="0E7C86"/>
                </a:solidFill>
                <a:latin typeface="Lato"/>
              </a:rPr>
              <a:t>rₜ(θ) = π_new(aₜ|sₜ) / π_old(aₜ|sₜ)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4768" y="1627632"/>
            <a:ext cx="5376672" cy="17556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1627632"/>
            <a:ext cx="54864" cy="1755648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847088"/>
            <a:ext cx="491947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33" b="1" i="0">
                <a:solidFill>
                  <a:srgbClr val="2E3A42"/>
                </a:solidFill>
                <a:latin typeface="Lato"/>
              </a:rPr>
              <a:t>2  Advantage (GAE)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21408"/>
            <a:ext cx="491947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68" b="0" i="1">
                <a:solidFill>
                  <a:srgbClr val="7C8A94"/>
                </a:solidFill>
                <a:latin typeface="Lato"/>
              </a:rPr>
              <a:t>was the action better than expected?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468880"/>
            <a:ext cx="4864608" cy="585216"/>
          </a:xfrm>
          <a:prstGeom prst="roundRect">
            <a:avLst>
              <a:gd name="adj" fmla="val 8000"/>
            </a:avLst>
          </a:prstGeom>
          <a:solidFill>
            <a:srgbClr val="E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2468880"/>
            <a:ext cx="4645152" cy="5852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751" b="1" i="0">
                <a:solidFill>
                  <a:srgbClr val="0E7C86"/>
                </a:solidFill>
                <a:latin typeface="Lato"/>
              </a:rPr>
              <a:t>Âₜ = δₜ + γλ·Âₜ₊₁,   δₜ = rₜ + γV(sₜ₊₁) − V(sₜ)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84448"/>
            <a:ext cx="5376672" cy="17556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584448"/>
            <a:ext cx="54864" cy="1755648"/>
          </a:xfrm>
          <a:prstGeom prst="rect">
            <a:avLst/>
          </a:prstGeom>
          <a:solidFill>
            <a:srgbClr val="E8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803904"/>
            <a:ext cx="491947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33" b="1" i="0">
                <a:solidFill>
                  <a:srgbClr val="2E3A42"/>
                </a:solidFill>
                <a:latin typeface="Lato"/>
              </a:rPr>
              <a:t>3  Clipped surrogate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4078224"/>
            <a:ext cx="491947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68" b="0" i="1">
                <a:solidFill>
                  <a:srgbClr val="7C8A94"/>
                </a:solidFill>
                <a:latin typeface="Lato"/>
              </a:rPr>
              <a:t>the safe policy update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" y="4425696"/>
            <a:ext cx="4864608" cy="585216"/>
          </a:xfrm>
          <a:prstGeom prst="roundRect">
            <a:avLst>
              <a:gd name="adj" fmla="val 8000"/>
            </a:avLst>
          </a:prstGeom>
          <a:solidFill>
            <a:srgbClr val="E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425696"/>
            <a:ext cx="4645152" cy="5852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751" b="1" i="0">
                <a:solidFill>
                  <a:srgbClr val="0E7C86"/>
                </a:solidFill>
                <a:latin typeface="Lato"/>
              </a:rPr>
              <a:t>L^CLIP = Ê[ min( rₜÂₜ , clip(rₜ,1−ε,1+ε)Âₜ ) 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44768" y="3584448"/>
            <a:ext cx="5376672" cy="17556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44768" y="3584448"/>
            <a:ext cx="54864" cy="1755648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803904"/>
            <a:ext cx="491947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33" b="1" i="0">
                <a:solidFill>
                  <a:srgbClr val="2E3A42"/>
                </a:solidFill>
                <a:latin typeface="Lato"/>
              </a:rPr>
              <a:t>4  Total objective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078224"/>
            <a:ext cx="491947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68" b="0" i="1">
                <a:solidFill>
                  <a:srgbClr val="7C8A94"/>
                </a:solidFill>
                <a:latin typeface="Lato"/>
              </a:rPr>
              <a:t>actor + critic + exploration  (maximize)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425696"/>
            <a:ext cx="4864608" cy="585216"/>
          </a:xfrm>
          <a:prstGeom prst="roundRect">
            <a:avLst>
              <a:gd name="adj" fmla="val 8000"/>
            </a:avLst>
          </a:prstGeom>
          <a:solidFill>
            <a:srgbClr val="E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4425696"/>
            <a:ext cx="4645152" cy="5852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751" b="1" i="0">
                <a:solidFill>
                  <a:srgbClr val="0E7C86"/>
                </a:solidFill>
                <a:latin typeface="Lato"/>
              </a:rPr>
              <a:t>L^obj = L^CLIP − c₁·L^VF + c₂·S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C7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24128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99" b="1" i="0" spc="140">
                <a:solidFill>
                  <a:srgbClr val="5FB0AB"/>
                </a:solidFill>
                <a:latin typeface="Lato"/>
              </a:rPr>
              <a:t>PPO · MATH 1 /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937" b="1" i="0">
                <a:solidFill>
                  <a:srgbClr val="FFFFFF"/>
                </a:solidFill>
                <a:latin typeface="Lato"/>
              </a:rPr>
              <a:t>Probability Ratio = Importance Sampling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365760"/>
            <a:ext cx="137160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355" b="0" i="0">
                <a:solidFill>
                  <a:srgbClr val="BFD7DB"/>
                </a:solidFill>
                <a:latin typeface="Lato"/>
              </a:rPr>
              <a:t>04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11091672" cy="9144"/>
          </a:xfrm>
          <a:prstGeom prst="rect">
            <a:avLst/>
          </a:prstGeom>
          <a:solidFill>
            <a:srgbClr val="DC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86" b="0" i="0">
                <a:solidFill>
                  <a:srgbClr val="7C8A94"/>
                </a:solidFill>
                <a:latin typeface="Lato"/>
              </a:rPr>
              <a:t>Block Blast RL  ·  PPO (Member 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371600"/>
            <a:ext cx="5120640" cy="4297680"/>
          </a:xfrm>
          <a:prstGeom prst="roundRect">
            <a:avLst>
              <a:gd name="adj" fmla="val 4000"/>
            </a:avLst>
          </a:prstGeom>
          <a:solidFill>
            <a:srgbClr val="0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664208"/>
            <a:ext cx="44988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43" b="1" i="0" spc="120">
                <a:solidFill>
                  <a:srgbClr val="5FB0AB"/>
                </a:solidFill>
                <a:latin typeface="Lato"/>
              </a:rPr>
              <a:t>PIECE 1 · THE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1901952"/>
            <a:ext cx="4498848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</a:pPr>
            <a:r>
              <a:rPr sz="3051" b="1" i="0">
                <a:solidFill>
                  <a:srgbClr val="FFFFFF"/>
                </a:solidFill>
                <a:latin typeface="Lato"/>
              </a:rPr>
              <a:t>rₜ(θ)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" y="2926080"/>
            <a:ext cx="438912" cy="45720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108960"/>
            <a:ext cx="4498848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25" b="0" i="0">
                <a:solidFill>
                  <a:srgbClr val="5FB0AB"/>
                </a:solidFill>
                <a:latin typeface="Lato"/>
              </a:rPr>
              <a:t>new-policy prob ÷ old-policy prob, same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584448"/>
            <a:ext cx="4498848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1800"/>
              </a:spcAft>
            </a:pPr>
            <a:r>
              <a:rPr sz="1807" b="1" i="0">
                <a:solidFill>
                  <a:srgbClr val="FFFFFF"/>
                </a:solidFill>
                <a:latin typeface="Lato"/>
              </a:rPr>
              <a:t>rₜ(θ) = π_new(aₜ|sₜ) / π_old(aₜ|sₜ)</a:t>
            </a:r>
          </a:p>
          <a:p>
            <a:pPr algn="l">
              <a:spcAft>
                <a:spcPts val="1000"/>
              </a:spcAft>
            </a:pPr>
            <a:r>
              <a:rPr sz="1581" b="1" i="0">
                <a:solidFill>
                  <a:srgbClr val="E8A23C"/>
                </a:solidFill>
                <a:latin typeface="Lato"/>
              </a:rPr>
              <a:t>rₜ = 1</a:t>
            </a:r>
            <a:r>
              <a:rPr sz="1581" b="0" i="0">
                <a:solidFill>
                  <a:srgbClr val="CFDDE2"/>
                </a:solidFill>
                <a:latin typeface="Lato"/>
              </a:rPr>
              <a:t>    unchanged</a:t>
            </a:r>
          </a:p>
          <a:p>
            <a:pPr algn="l">
              <a:spcAft>
                <a:spcPts val="1000"/>
              </a:spcAft>
            </a:pPr>
            <a:r>
              <a:rPr sz="1581" b="1" i="0">
                <a:solidFill>
                  <a:srgbClr val="E8A23C"/>
                </a:solidFill>
                <a:latin typeface="Lato"/>
              </a:rPr>
              <a:t>rₜ &gt; 1</a:t>
            </a:r>
            <a:r>
              <a:rPr sz="1581" b="0" i="0">
                <a:solidFill>
                  <a:srgbClr val="CFDDE2"/>
                </a:solidFill>
                <a:latin typeface="Lato"/>
              </a:rPr>
              <a:t>    new policy prefers it more</a:t>
            </a:r>
          </a:p>
          <a:p>
            <a:pPr algn="l"/>
            <a:r>
              <a:rPr sz="1581" b="1" i="0">
                <a:solidFill>
                  <a:srgbClr val="E8A23C"/>
                </a:solidFill>
                <a:latin typeface="Lato"/>
              </a:rPr>
              <a:t>rₜ &lt; 1</a:t>
            </a:r>
            <a:r>
              <a:rPr sz="1581" b="0" i="0">
                <a:solidFill>
                  <a:srgbClr val="CFDDE2"/>
                </a:solidFill>
                <a:latin typeface="Lato"/>
              </a:rPr>
              <a:t>    prefers it less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61888" y="1371600"/>
            <a:ext cx="5678424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61888" y="1371600"/>
            <a:ext cx="54864" cy="1371600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572768"/>
            <a:ext cx="51663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7" b="1" i="0">
                <a:solidFill>
                  <a:srgbClr val="2E3A42"/>
                </a:solidFill>
                <a:latin typeface="Lato"/>
              </a:rPr>
              <a:t>It corrects for reused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865376"/>
            <a:ext cx="5193792" cy="8046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25" b="0" i="0">
                <a:solidFill>
                  <a:srgbClr val="2E3A42"/>
                </a:solidFill>
                <a:latin typeface="Lato"/>
              </a:rPr>
              <a:t>We're reusing data the OLD policy collected; this ratio is what makes that reuse mathematically valid — the first of the two tricks.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61888" y="2834640"/>
            <a:ext cx="5678424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61888" y="2834640"/>
            <a:ext cx="54864" cy="1371600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035808"/>
            <a:ext cx="51663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7" b="1" i="0">
                <a:solidFill>
                  <a:srgbClr val="2E3A42"/>
                </a:solidFill>
                <a:latin typeface="Lato"/>
              </a:rPr>
              <a:t>Computed in log-space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328416"/>
            <a:ext cx="5193792" cy="8046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25" b="0" i="0">
                <a:solidFill>
                  <a:srgbClr val="2E3A42"/>
                </a:solidFill>
                <a:latin typeface="Lato"/>
              </a:rPr>
              <a:t>Subtract log-probs, then exponentiate — numerically stable because raw probabilities can be tiny.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61888" y="4297680"/>
            <a:ext cx="5678424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61888" y="4297680"/>
            <a:ext cx="54864" cy="1371600"/>
          </a:xfrm>
          <a:prstGeom prst="rect">
            <a:avLst/>
          </a:prstGeom>
          <a:solidFill>
            <a:srgbClr val="E8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4498848"/>
            <a:ext cx="51663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7" b="1" i="0">
                <a:solidFill>
                  <a:srgbClr val="2E3A42"/>
                </a:solidFill>
                <a:latin typeface="Lato"/>
              </a:rPr>
              <a:t>It is also what gets clipped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791456"/>
            <a:ext cx="5193792" cy="8046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25" b="0" i="0">
                <a:solidFill>
                  <a:srgbClr val="2E3A42"/>
                </a:solidFill>
                <a:latin typeface="Lato"/>
              </a:rPr>
              <a:t>PPO will clip this very quantity — the second trick, two slides from 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C7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24128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99" b="1" i="0" spc="140">
                <a:solidFill>
                  <a:srgbClr val="5FB0AB"/>
                </a:solidFill>
                <a:latin typeface="Lato"/>
              </a:rPr>
              <a:t>PPO · MATH 2 /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937" b="1" i="0">
                <a:solidFill>
                  <a:srgbClr val="FFFFFF"/>
                </a:solidFill>
                <a:latin typeface="Lato"/>
              </a:rPr>
              <a:t>Advantage &amp; GAE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365760"/>
            <a:ext cx="137160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355" b="0" i="0">
                <a:solidFill>
                  <a:srgbClr val="BFD7DB"/>
                </a:solidFill>
                <a:latin typeface="Lato"/>
              </a:rPr>
              <a:t>05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11091672" cy="9144"/>
          </a:xfrm>
          <a:prstGeom prst="rect">
            <a:avLst/>
          </a:prstGeom>
          <a:solidFill>
            <a:srgbClr val="DC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86" b="0" i="0">
                <a:solidFill>
                  <a:srgbClr val="7C8A94"/>
                </a:solidFill>
                <a:latin typeface="Lato"/>
              </a:rPr>
              <a:t>Block Blast RL  ·  PPO (Member 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371600"/>
            <a:ext cx="5120640" cy="4297680"/>
          </a:xfrm>
          <a:prstGeom prst="roundRect">
            <a:avLst>
              <a:gd name="adj" fmla="val 4000"/>
            </a:avLst>
          </a:prstGeom>
          <a:solidFill>
            <a:srgbClr val="0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664208"/>
            <a:ext cx="44988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43" b="1" i="0" spc="120">
                <a:solidFill>
                  <a:srgbClr val="5FB0AB"/>
                </a:solidFill>
                <a:latin typeface="Lato"/>
              </a:rPr>
              <a:t>PIECE 2 · ADVANTAGE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1901952"/>
            <a:ext cx="4498848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</a:pPr>
            <a:r>
              <a:rPr sz="3051" b="1" i="0">
                <a:solidFill>
                  <a:srgbClr val="FFFFFF"/>
                </a:solidFill>
                <a:latin typeface="Lato"/>
              </a:rPr>
              <a:t>Was it better
than expected?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" y="2926080"/>
            <a:ext cx="438912" cy="45720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108960"/>
            <a:ext cx="4498848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25" b="0" i="0">
                <a:solidFill>
                  <a:srgbClr val="5FB0AB"/>
                </a:solidFill>
                <a:latin typeface="Lato"/>
              </a:rPr>
              <a:t>how much better than the critic's baseline V(s)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584448"/>
            <a:ext cx="4498848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800"/>
              </a:spcAft>
            </a:pPr>
            <a:r>
              <a:rPr sz="1581" b="1" i="0">
                <a:solidFill>
                  <a:srgbClr val="E8A23C"/>
                </a:solidFill>
                <a:latin typeface="Lato"/>
              </a:rPr>
              <a:t>Âₜ &gt; 0</a:t>
            </a:r>
            <a:r>
              <a:rPr sz="1581" b="0" i="0">
                <a:solidFill>
                  <a:srgbClr val="CFDDE2"/>
                </a:solidFill>
                <a:latin typeface="Lato"/>
              </a:rPr>
              <a:t>  reinforce         </a:t>
            </a:r>
            <a:r>
              <a:rPr sz="1581" b="1" i="0">
                <a:solidFill>
                  <a:srgbClr val="E8A23C"/>
                </a:solidFill>
                <a:latin typeface="Lato"/>
              </a:rPr>
              <a:t>Âₜ &lt; 0</a:t>
            </a:r>
            <a:r>
              <a:rPr sz="1581" b="0" i="0">
                <a:solidFill>
                  <a:srgbClr val="CFDDE2"/>
                </a:solidFill>
                <a:latin typeface="Lato"/>
              </a:rPr>
              <a:t>  discourage</a:t>
            </a:r>
          </a:p>
          <a:p>
            <a:pPr algn="l">
              <a:spcAft>
                <a:spcPts val="900"/>
              </a:spcAft>
            </a:pPr>
            <a:r>
              <a:rPr sz="1581" b="1" i="0">
                <a:solidFill>
                  <a:srgbClr val="FFFFFF"/>
                </a:solidFill>
                <a:latin typeface="Lato"/>
              </a:rPr>
              <a:t>δₜ = rₜ + γV(sₜ₊₁) − V(sₜ)</a:t>
            </a:r>
          </a:p>
          <a:p>
            <a:pPr algn="l">
              <a:spcAft>
                <a:spcPts val="900"/>
              </a:spcAft>
            </a:pPr>
            <a:r>
              <a:rPr sz="1581" b="1" i="0">
                <a:solidFill>
                  <a:srgbClr val="FFFFFF"/>
                </a:solidFill>
                <a:latin typeface="Lato"/>
              </a:rPr>
              <a:t>Âₜ = δₜ + γλ·Âₜ₊₁    (backward in time)</a:t>
            </a:r>
          </a:p>
          <a:p>
            <a:pPr algn="l"/>
            <a:r>
              <a:rPr sz="1468" b="0" i="0">
                <a:solidFill>
                  <a:srgbClr val="5FB0AB"/>
                </a:solidFill>
                <a:latin typeface="Lato"/>
              </a:rPr>
              <a:t>R̂ₜ = Âₜ + V(sₜ)    → critic target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61888" y="1371600"/>
            <a:ext cx="5678424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61888" y="1371600"/>
            <a:ext cx="54864" cy="1371600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554480"/>
            <a:ext cx="51663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7" b="1" i="0">
                <a:solidFill>
                  <a:srgbClr val="2E3A42"/>
                </a:solidFill>
                <a:latin typeface="Lato"/>
              </a:rPr>
              <a:t>one-step 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828800"/>
            <a:ext cx="5193792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468" b="0" i="0">
                <a:solidFill>
                  <a:srgbClr val="2E3A42"/>
                </a:solidFill>
                <a:latin typeface="Lato"/>
              </a:rPr>
              <a:t>next real reward + critic's guess V(s′)  (bootstrap)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377440"/>
            <a:ext cx="5193792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355" b="0" i="1">
                <a:solidFill>
                  <a:srgbClr val="0E7C86"/>
                </a:solidFill>
                <a:latin typeface="Lato"/>
              </a:rPr>
              <a:t>low variance · high bias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61888" y="2834640"/>
            <a:ext cx="5678424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61888" y="2834640"/>
            <a:ext cx="54864" cy="1371600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3017520"/>
            <a:ext cx="51663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7" b="1" i="0">
                <a:solidFill>
                  <a:srgbClr val="2E3A42"/>
                </a:solidFill>
                <a:latin typeface="Lato"/>
              </a:rPr>
              <a:t>Monte-Carlo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291840"/>
            <a:ext cx="5193792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468" b="0" i="0">
                <a:solidFill>
                  <a:srgbClr val="2E3A42"/>
                </a:solidFill>
                <a:latin typeface="Lato"/>
              </a:rPr>
              <a:t>real rewards to episode end, no guessing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840480"/>
            <a:ext cx="5193792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355" b="0" i="1">
                <a:solidFill>
                  <a:srgbClr val="0E7C86"/>
                </a:solidFill>
                <a:latin typeface="Lato"/>
              </a:rPr>
              <a:t>high variance · low bias (unbiased)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61888" y="4297680"/>
            <a:ext cx="5678424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1888" y="4297680"/>
            <a:ext cx="54864" cy="1371600"/>
          </a:xfrm>
          <a:prstGeom prst="rect">
            <a:avLst/>
          </a:prstGeom>
          <a:solidFill>
            <a:srgbClr val="E8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4480560"/>
            <a:ext cx="51663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7" b="1" i="0">
                <a:solidFill>
                  <a:srgbClr val="2E3A42"/>
                </a:solidFill>
                <a:latin typeface="Lato"/>
              </a:rPr>
              <a:t>GAE-λ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754880"/>
            <a:ext cx="5193792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468" b="0" i="0">
                <a:solidFill>
                  <a:srgbClr val="2E3A42"/>
                </a:solidFill>
                <a:latin typeface="Lato"/>
              </a:rPr>
              <a:t>weighted blend; λ→0 ≈ TD, λ→1 ≈ MC  (we use λ=0.95)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303520"/>
            <a:ext cx="5193792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355" b="0" i="1">
                <a:solidFill>
                  <a:srgbClr val="E8A23C"/>
                </a:solidFill>
                <a:latin typeface="Lato"/>
              </a:rPr>
              <a:t>Âₜ = Σ (γλ)ˡ δₜ₊ₗ — exponentially-weighted; λ is the bias↔variance dial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C7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24128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99" b="1" i="0" spc="140">
                <a:solidFill>
                  <a:srgbClr val="5FB0AB"/>
                </a:solidFill>
                <a:latin typeface="Lato"/>
              </a:rPr>
              <a:t>PPO · MATH 3 /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937" b="1" i="0">
                <a:solidFill>
                  <a:srgbClr val="FFFFFF"/>
                </a:solidFill>
                <a:latin typeface="Lato"/>
              </a:rPr>
              <a:t>The Clipped Surrogate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365760"/>
            <a:ext cx="137160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355" b="0" i="0">
                <a:solidFill>
                  <a:srgbClr val="BFD7DB"/>
                </a:solidFill>
                <a:latin typeface="Lato"/>
              </a:rPr>
              <a:t>06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11091672" cy="9144"/>
          </a:xfrm>
          <a:prstGeom prst="rect">
            <a:avLst/>
          </a:prstGeom>
          <a:solidFill>
            <a:srgbClr val="DC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86" b="0" i="0">
                <a:solidFill>
                  <a:srgbClr val="7C8A94"/>
                </a:solidFill>
                <a:latin typeface="Lato"/>
              </a:rPr>
              <a:t>Block Blast RL  ·  PPO (Member 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371600"/>
            <a:ext cx="11091672" cy="877824"/>
          </a:xfrm>
          <a:prstGeom prst="roundRect">
            <a:avLst>
              <a:gd name="adj" fmla="val 3000"/>
            </a:avLst>
          </a:prstGeom>
          <a:solidFill>
            <a:srgbClr val="0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11091672" cy="8778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599" b="1" i="0">
                <a:solidFill>
                  <a:srgbClr val="FFFFFF"/>
                </a:solidFill>
                <a:latin typeface="Lato"/>
              </a:rPr>
              <a:t>L^CLIP = Ê[ min( rₜÂₜ ,  clip(rₜ, 1−ε, 1+ε)·Âₜ )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87168"/>
            <a:ext cx="3547872" cy="1536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87168"/>
            <a:ext cx="54864" cy="1536192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688336"/>
            <a:ext cx="312724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64" b="1" i="0">
                <a:solidFill>
                  <a:srgbClr val="2E3A42"/>
                </a:solidFill>
                <a:latin typeface="Lato"/>
              </a:rPr>
              <a:t>Unclipped  rₜÂₜ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017520"/>
            <a:ext cx="3090672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25" b="0" i="0">
                <a:solidFill>
                  <a:srgbClr val="2E3A42"/>
                </a:solidFill>
                <a:latin typeface="Lato"/>
              </a:rPr>
              <a:t>the ordinary policy-gradient term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4256" y="2487168"/>
            <a:ext cx="3547872" cy="1536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4256" y="2487168"/>
            <a:ext cx="54864" cy="1536192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688336"/>
            <a:ext cx="312724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64" b="1" i="0">
                <a:solidFill>
                  <a:srgbClr val="2E3A42"/>
                </a:solidFill>
                <a:latin typeface="Lato"/>
              </a:rPr>
              <a:t>Clipped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017520"/>
            <a:ext cx="3090672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25" b="0" i="0">
                <a:solidFill>
                  <a:srgbClr val="2E3A42"/>
                </a:solidFill>
                <a:latin typeface="Lato"/>
              </a:rPr>
              <a:t>ratio forced into [1−ε, 1+ε] — with ε = 0.2 that is [0.8, 1.2]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19872" y="2487168"/>
            <a:ext cx="3547872" cy="1536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19872" y="2487168"/>
            <a:ext cx="54864" cy="1536192"/>
          </a:xfrm>
          <a:prstGeom prst="rect">
            <a:avLst/>
          </a:prstGeom>
          <a:solidFill>
            <a:srgbClr val="E8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7616" y="2688336"/>
            <a:ext cx="312724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64" b="1" i="0">
                <a:solidFill>
                  <a:srgbClr val="2E3A42"/>
                </a:solidFill>
                <a:latin typeface="Lato"/>
              </a:rPr>
              <a:t>min → pessimistic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6" y="3017520"/>
            <a:ext cx="3090672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25" b="0" i="0">
                <a:solidFill>
                  <a:srgbClr val="2E3A42"/>
                </a:solidFill>
                <a:latin typeface="Lato"/>
              </a:rPr>
              <a:t>keep the smaller term → a lower bound, so there's no incentive to move the policy too far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297680"/>
            <a:ext cx="11091672" cy="1371600"/>
          </a:xfrm>
          <a:prstGeom prst="roundRect">
            <a:avLst>
              <a:gd name="adj" fmla="val 3000"/>
            </a:avLst>
          </a:prstGeom>
          <a:solidFill>
            <a:srgbClr val="0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4517136"/>
            <a:ext cx="10506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43" b="1" i="0" spc="120">
                <a:solidFill>
                  <a:srgbClr val="E8A23C"/>
                </a:solidFill>
                <a:latin typeface="Lato"/>
              </a:rPr>
              <a:t>THIS IS THE SECOND TRICK — IT ANSWERS THE PIPELINE PUZZLE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4754880"/>
            <a:ext cx="10506456" cy="877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695" b="0" i="0">
                <a:solidFill>
                  <a:srgbClr val="CFDDE2"/>
                </a:solidFill>
                <a:latin typeface="Lato"/>
              </a:rPr>
              <a:t>In one line:  </a:t>
            </a:r>
            <a:r>
              <a:rPr sz="1695" b="0" i="0">
                <a:solidFill>
                  <a:srgbClr val="FFFFFF"/>
                </a:solidFill>
                <a:latin typeface="Lato"/>
              </a:rPr>
              <a:t>a ceiling on already-good moves, a floor on already-bad moves, </a:t>
            </a:r>
            <a:r>
              <a:rPr sz="1695" b="1" i="0">
                <a:solidFill>
                  <a:srgbClr val="FFFFFF"/>
                </a:solidFill>
                <a:latin typeface="Lato"/>
              </a:rPr>
              <a:t>but a full corrective gradient if the policy lurches the wrong way</a:t>
            </a:r>
            <a:r>
              <a:rPr sz="1695" b="0" i="0">
                <a:solidFill>
                  <a:srgbClr val="CFDDE2"/>
                </a:solidFill>
                <a:latin typeface="Lato"/>
              </a:rPr>
              <a:t>  (each case next slide).</a:t>
            </a:r>
          </a:p>
          <a:p>
            <a:pPr algn="l">
              <a:spcBef>
                <a:spcPts val="800"/>
              </a:spcBef>
            </a:pPr>
            <a:r>
              <a:rPr sz="1525" b="0" i="1">
                <a:solidFill>
                  <a:srgbClr val="5FB0AB"/>
                </a:solidFill>
                <a:latin typeface="Lato"/>
              </a:rPr>
              <a:t>A cheap stand-in for TRPO's expensive trust-region constraint.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C7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24128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99" b="1" i="0" spc="140">
                <a:solidFill>
                  <a:srgbClr val="5FB0AB"/>
                </a:solidFill>
                <a:latin typeface="Lato"/>
              </a:rPr>
              <a:t>PPO · MATH 3 /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937" b="1" i="0">
                <a:solidFill>
                  <a:srgbClr val="FFFFFF"/>
                </a:solidFill>
                <a:latin typeface="Lato"/>
              </a:rPr>
              <a:t>Why Clipping Works — Case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365760"/>
            <a:ext cx="137160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355" b="0" i="0">
                <a:solidFill>
                  <a:srgbClr val="BFD7DB"/>
                </a:solidFill>
                <a:latin typeface="Lato"/>
              </a:rPr>
              <a:t>07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11091672" cy="9144"/>
          </a:xfrm>
          <a:prstGeom prst="rect">
            <a:avLst/>
          </a:prstGeom>
          <a:solidFill>
            <a:srgbClr val="DC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86" b="0" i="0">
                <a:solidFill>
                  <a:srgbClr val="7C8A94"/>
                </a:solidFill>
                <a:latin typeface="Lato"/>
              </a:rPr>
              <a:t>Block Blast RL  ·  PPO (Member 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3547872" cy="640080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572768"/>
            <a:ext cx="3182112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43" b="1" i="0" spc="140">
                <a:solidFill>
                  <a:srgbClr val="FFFFFF"/>
                </a:solidFill>
                <a:latin typeface="Lato"/>
              </a:rPr>
              <a:t>CASE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1755648"/>
            <a:ext cx="3182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64" b="1" i="0">
                <a:solidFill>
                  <a:srgbClr val="FFFFFF"/>
                </a:solidFill>
                <a:latin typeface="Lato"/>
              </a:rPr>
              <a:t>Good action  (Âₜ &gt; 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03120"/>
            <a:ext cx="3547872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340864"/>
            <a:ext cx="3090672" cy="228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25" b="0" i="0">
                <a:solidFill>
                  <a:srgbClr val="2E3A42"/>
                </a:solidFill>
                <a:latin typeface="Lato"/>
              </a:rPr>
              <a:t>rₜ ≤ 1+ε : unclipped = clipped → normal gradient, keep improving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25" b="0" i="0">
                <a:solidFill>
                  <a:srgbClr val="2E3A42"/>
                </a:solidFill>
                <a:latin typeface="Lato"/>
              </a:rPr>
              <a:t>rₜ &gt; 1+ε : min picks (1+ε)Âₜ → gradient = 0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25" b="1" i="0">
                <a:solidFill>
                  <a:srgbClr val="0E7C86"/>
                </a:solidFill>
                <a:latin typeface="Lato"/>
              </a:rPr>
              <a:t>→ a CEILING — stop over-committing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463040"/>
            <a:ext cx="3547872" cy="640080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1572768"/>
            <a:ext cx="3182112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43" b="1" i="0" spc="140">
                <a:solidFill>
                  <a:srgbClr val="FFFFFF"/>
                </a:solidFill>
                <a:latin typeface="Lato"/>
              </a:rPr>
              <a:t>CASE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1755648"/>
            <a:ext cx="3182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64" b="1" i="0">
                <a:solidFill>
                  <a:srgbClr val="FFFFFF"/>
                </a:solidFill>
                <a:latin typeface="Lato"/>
              </a:rPr>
              <a:t>Bad action  (Âₜ &lt; 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34256" y="2103120"/>
            <a:ext cx="3547872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340864"/>
            <a:ext cx="3090672" cy="228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25" b="0" i="0">
                <a:solidFill>
                  <a:srgbClr val="2E3A42"/>
                </a:solidFill>
                <a:latin typeface="Lato"/>
              </a:rPr>
              <a:t>rₜ ≥ 1−ε : normal gradient, keep suppressing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25" b="0" i="0">
                <a:solidFill>
                  <a:srgbClr val="2E3A42"/>
                </a:solidFill>
                <a:latin typeface="Lato"/>
              </a:rPr>
              <a:t>rₜ &lt; 1−ε : min picks (1−ε)Âₜ → gradient = 0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25" b="1" i="0">
                <a:solidFill>
                  <a:srgbClr val="0E7C86"/>
                </a:solidFill>
                <a:latin typeface="Lato"/>
              </a:rPr>
              <a:t>→ a FLOOR — stop over-punishing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19872" y="1463040"/>
            <a:ext cx="3547872" cy="640080"/>
          </a:xfrm>
          <a:prstGeom prst="rect">
            <a:avLst/>
          </a:prstGeom>
          <a:solidFill>
            <a:srgbClr val="E8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7" y="1572768"/>
            <a:ext cx="3182112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43" b="1" i="0" spc="140">
                <a:solidFill>
                  <a:srgbClr val="FFFFFF"/>
                </a:solidFill>
                <a:latin typeface="Lato"/>
              </a:rPr>
              <a:t>SAFETY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1755648"/>
            <a:ext cx="3182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64" b="1" i="0">
                <a:solidFill>
                  <a:srgbClr val="FFFFFF"/>
                </a:solidFill>
                <a:latin typeface="Lato"/>
              </a:rPr>
              <a:t>Wrong way  (Âₜ &lt; 0, rₜ jumps &gt; 1+ε)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19872" y="2103120"/>
            <a:ext cx="3547872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57616" y="2340864"/>
            <a:ext cx="3090672" cy="228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25" b="0" i="0">
                <a:solidFill>
                  <a:srgbClr val="2E3A42"/>
                </a:solidFill>
                <a:latin typeface="Lato"/>
              </a:rPr>
              <a:t>unclipped rₜÂₜ is MORE negative than clipped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25" b="0" i="0">
                <a:solidFill>
                  <a:srgbClr val="2E3A42"/>
                </a:solidFill>
                <a:latin typeface="Lato"/>
              </a:rPr>
              <a:t>min keeps the unclipped term → large corrective gradient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25" b="1" i="0">
                <a:solidFill>
                  <a:srgbClr val="E8A23C"/>
                </a:solidFill>
                <a:latin typeface="Lato"/>
              </a:rPr>
              <a:t>→ policy pulled back hard — no free pass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193792"/>
            <a:ext cx="11091672" cy="512064"/>
          </a:xfrm>
          <a:prstGeom prst="roundRect">
            <a:avLst>
              <a:gd name="adj" fmla="val 6000"/>
            </a:avLst>
          </a:prstGeom>
          <a:solidFill>
            <a:srgbClr val="0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193792"/>
            <a:ext cx="11091672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638" b="1" i="0">
                <a:solidFill>
                  <a:srgbClr val="E8A23C"/>
                </a:solidFill>
                <a:latin typeface="Lato"/>
              </a:rPr>
              <a:t>Summary:  </a:t>
            </a:r>
            <a:r>
              <a:rPr sz="1638" b="0" i="0">
                <a:solidFill>
                  <a:srgbClr val="FFFFFF"/>
                </a:solidFill>
                <a:latin typeface="Lato"/>
              </a:rPr>
              <a:t>ceiling on good moves · floor on bad moves · no free pass for going the wrong way.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C7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24128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99" b="1" i="0" spc="140">
                <a:solidFill>
                  <a:srgbClr val="5FB0AB"/>
                </a:solidFill>
                <a:latin typeface="Lato"/>
              </a:rPr>
              <a:t>PPO · MATH 4 /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937" b="1" i="0">
                <a:solidFill>
                  <a:srgbClr val="FFFFFF"/>
                </a:solidFill>
                <a:latin typeface="Lato"/>
              </a:rPr>
              <a:t>The Complete 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365760"/>
            <a:ext cx="137160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355" b="0" i="0">
                <a:solidFill>
                  <a:srgbClr val="BFD7DB"/>
                </a:solidFill>
                <a:latin typeface="Lato"/>
              </a:rPr>
              <a:t>08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11091672" cy="9144"/>
          </a:xfrm>
          <a:prstGeom prst="rect">
            <a:avLst/>
          </a:prstGeom>
          <a:solidFill>
            <a:srgbClr val="DC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86" b="0" i="0">
                <a:solidFill>
                  <a:srgbClr val="7C8A94"/>
                </a:solidFill>
                <a:latin typeface="Lato"/>
              </a:rPr>
              <a:t>Block Blast RL  ·  PPO (Member 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389888"/>
            <a:ext cx="5376672" cy="1371600"/>
          </a:xfrm>
          <a:prstGeom prst="roundRect">
            <a:avLst>
              <a:gd name="adj" fmla="val 3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554480"/>
            <a:ext cx="49377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43" b="1" i="0" spc="120">
                <a:solidFill>
                  <a:srgbClr val="FFFFFF"/>
                </a:solidFill>
                <a:latin typeface="Lato"/>
              </a:rPr>
              <a:t>PAPER · OBJECTIVE (maximize)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1828800"/>
            <a:ext cx="493776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372" b="1" i="0">
                <a:solidFill>
                  <a:srgbClr val="FFFFFF"/>
                </a:solidFill>
                <a:latin typeface="Lato"/>
              </a:rPr>
              <a:t>L^obj = L^CLIP − c₁·L^VF + c₂·S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89888"/>
            <a:ext cx="5376672" cy="1371600"/>
          </a:xfrm>
          <a:prstGeom prst="roundRect">
            <a:avLst>
              <a:gd name="adj" fmla="val 3000"/>
            </a:avLst>
          </a:prstGeom>
          <a:solidFill>
            <a:srgbClr val="E8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1554480"/>
            <a:ext cx="49377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43" b="1" i="0" spc="120">
                <a:solidFill>
                  <a:srgbClr val="0F3A4D"/>
                </a:solidFill>
                <a:latin typeface="Lato"/>
              </a:rPr>
              <a:t>CODE · LOSS (minimize)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1828800"/>
            <a:ext cx="493776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372" b="1" i="0">
                <a:solidFill>
                  <a:srgbClr val="0F3A4D"/>
                </a:solidFill>
                <a:latin typeface="Lato"/>
              </a:rPr>
              <a:t>L^loss = −L^CLIP + c₁·L^VF − c₂·S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944368"/>
            <a:ext cx="11091672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944368"/>
            <a:ext cx="54864" cy="585216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2944368"/>
            <a:ext cx="1371600" cy="5852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920" b="1" i="0">
                <a:solidFill>
                  <a:srgbClr val="2E3A42"/>
                </a:solidFill>
                <a:latin typeface="Lato"/>
              </a:rPr>
              <a:t>L^CLIP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944368"/>
            <a:ext cx="9262872" cy="5852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638" b="0" i="0">
                <a:solidFill>
                  <a:srgbClr val="2E3A42"/>
                </a:solidFill>
                <a:latin typeface="Lato"/>
              </a:rPr>
              <a:t>clipped surrogate → trains the ACTOR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621024"/>
            <a:ext cx="11091672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621024"/>
            <a:ext cx="54864" cy="585216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621024"/>
            <a:ext cx="1371600" cy="5852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920" b="1" i="0">
                <a:solidFill>
                  <a:srgbClr val="2E3A42"/>
                </a:solidFill>
                <a:latin typeface="Lato"/>
              </a:rPr>
              <a:t>L^VF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621024"/>
            <a:ext cx="9262872" cy="5852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638" b="0" i="0">
                <a:solidFill>
                  <a:srgbClr val="2E3A42"/>
                </a:solidFill>
                <a:latin typeface="Lato"/>
              </a:rPr>
              <a:t>MSE( V(s), GAE returns ) → trains the CRITIC   ·   c₁ = 0.5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97680"/>
            <a:ext cx="11091672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297680"/>
            <a:ext cx="54864" cy="585216"/>
          </a:xfrm>
          <a:prstGeom prst="rect">
            <a:avLst/>
          </a:prstGeom>
          <a:solidFill>
            <a:srgbClr val="E8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4297680"/>
            <a:ext cx="1371600" cy="5852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920" b="1" i="0">
                <a:solidFill>
                  <a:srgbClr val="2E3A42"/>
                </a:solidFill>
                <a:latin typeface="Lato"/>
              </a:rPr>
              <a:t>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4297680"/>
            <a:ext cx="9262872" cy="5852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638" b="0" i="0">
                <a:solidFill>
                  <a:srgbClr val="2E3A42"/>
                </a:solidFill>
                <a:latin typeface="Lato"/>
              </a:rPr>
              <a:t>policy entropy → keeps exploration alive   ·   c₂ = 0.01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084064"/>
            <a:ext cx="11091672" cy="603504"/>
          </a:xfrm>
          <a:prstGeom prst="roundRect">
            <a:avLst>
              <a:gd name="adj" fmla="val 5000"/>
            </a:avLst>
          </a:prstGeom>
          <a:solidFill>
            <a:srgbClr val="0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084064"/>
            <a:ext cx="11091672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581" b="1" i="0">
                <a:solidFill>
                  <a:srgbClr val="E8A23C"/>
                </a:solidFill>
                <a:latin typeface="Lato"/>
              </a:rPr>
              <a:t>Why the sign flips:  </a:t>
            </a:r>
            <a:r>
              <a:rPr sz="1581" b="0" i="0">
                <a:solidFill>
                  <a:srgbClr val="FFFFFF"/>
                </a:solidFill>
                <a:latin typeface="Lato"/>
              </a:rPr>
              <a:t>the paper maximizes, PyTorch minimizes — so the code negates the whole thing. Same equation, opposite sign.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C7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24128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99" b="1" i="0" spc="140">
                <a:solidFill>
                  <a:srgbClr val="5FB0AB"/>
                </a:solidFill>
                <a:latin typeface="Lato"/>
              </a:rPr>
              <a:t>PPO · IMPLEMENTATION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937" b="1" i="0">
                <a:solidFill>
                  <a:srgbClr val="FFFFFF"/>
                </a:solidFill>
                <a:latin typeface="Lato"/>
              </a:rPr>
              <a:t>Action Masking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365760"/>
            <a:ext cx="137160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355" b="0" i="0">
                <a:solidFill>
                  <a:srgbClr val="BFD7DB"/>
                </a:solidFill>
                <a:latin typeface="Lato"/>
              </a:rPr>
              <a:t>09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11091672" cy="9144"/>
          </a:xfrm>
          <a:prstGeom prst="rect">
            <a:avLst/>
          </a:prstGeom>
          <a:solidFill>
            <a:srgbClr val="DC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86" b="0" i="0">
                <a:solidFill>
                  <a:srgbClr val="7C8A94"/>
                </a:solidFill>
                <a:latin typeface="Lato"/>
              </a:rPr>
              <a:t>Block Blast RL  ·  PPO (Member 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371600"/>
            <a:ext cx="5120640" cy="4297680"/>
          </a:xfrm>
          <a:prstGeom prst="roundRect">
            <a:avLst>
              <a:gd name="adj" fmla="val 4000"/>
            </a:avLst>
          </a:prstGeom>
          <a:solidFill>
            <a:srgbClr val="0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664208"/>
            <a:ext cx="44988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43" b="1" i="0" spc="120">
                <a:solidFill>
                  <a:srgbClr val="5FB0AB"/>
                </a:solidFill>
                <a:latin typeface="Lato"/>
              </a:rPr>
              <a:t>WHY IT IS MANDATORY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1901952"/>
            <a:ext cx="4498848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</a:pPr>
            <a:r>
              <a:rPr sz="3051" b="1" i="0">
                <a:solidFill>
                  <a:srgbClr val="FFFFFF"/>
                </a:solidFill>
                <a:latin typeface="Lato"/>
              </a:rPr>
              <a:t>Most of the 192
are illegal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" y="2926080"/>
            <a:ext cx="438912" cy="45720"/>
          </a:xfrm>
          <a:prstGeom prst="rect">
            <a:avLst/>
          </a:prstGeom>
          <a:solidFill>
            <a:srgbClr val="E8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108960"/>
            <a:ext cx="4498848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25" b="0" i="0">
                <a:solidFill>
                  <a:srgbClr val="5FB0AB"/>
                </a:solidFill>
                <a:latin typeface="Lato"/>
              </a:rPr>
              <a:t>out of bounds · cell filled · slot already used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584448"/>
            <a:ext cx="4498848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581" b="0" i="0">
                <a:solidFill>
                  <a:srgbClr val="CFDDE2"/>
                </a:solidFill>
                <a:latin typeface="Lato"/>
              </a:rPr>
              <a:t>Without masking, the policy wastes most of its capacity just learning not to make illegal moves — and the env may even crash.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61888" y="1371600"/>
            <a:ext cx="5678424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61888" y="1371600"/>
            <a:ext cx="54864" cy="1371600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572768"/>
            <a:ext cx="51663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7" b="1" i="0">
                <a:solidFill>
                  <a:srgbClr val="2E3A42"/>
                </a:solidFill>
                <a:latin typeface="Lato"/>
              </a:rPr>
              <a:t>Discrete(192)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865376"/>
            <a:ext cx="5193792" cy="8046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25" b="0" i="0">
                <a:solidFill>
                  <a:srgbClr val="2E3A42"/>
                </a:solidFill>
                <a:latin typeface="Lato"/>
              </a:rPr>
              <a:t>action = piece_idx × 64 + row × 8 + col — one flat int is the coordinate every agent speaks.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61888" y="2834640"/>
            <a:ext cx="5678424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61888" y="2834640"/>
            <a:ext cx="54864" cy="1371600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035808"/>
            <a:ext cx="51663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7" b="1" i="0">
                <a:solidFill>
                  <a:srgbClr val="2E3A42"/>
                </a:solidFill>
                <a:latin typeface="Lato"/>
              </a:rPr>
              <a:t>Mask before sampling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328416"/>
            <a:ext cx="5193792" cy="8046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25" b="0" i="0">
                <a:solidFill>
                  <a:srgbClr val="2E3A42"/>
                </a:solidFill>
                <a:latin typeface="Lato"/>
              </a:rPr>
              <a:t>set illegal logits to −∞ → after softmax they get 0 probability and contribute 0 entropy.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61888" y="4297680"/>
            <a:ext cx="5678424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61888" y="4297680"/>
            <a:ext cx="54864" cy="1371600"/>
          </a:xfrm>
          <a:prstGeom prst="rect">
            <a:avLst/>
          </a:prstGeom>
          <a:solidFill>
            <a:srgbClr val="E8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4498848"/>
            <a:ext cx="51663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7" b="1" i="0">
                <a:solidFill>
                  <a:srgbClr val="2E3A42"/>
                </a:solidFill>
                <a:latin typeface="Lato"/>
              </a:rPr>
              <a:t>Game-over = no legal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791456"/>
            <a:ext cx="5193792" cy="8046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25" b="0" i="0">
                <a:solidFill>
                  <a:srgbClr val="2E3A42"/>
                </a:solidFill>
                <a:latin typeface="Lato"/>
              </a:rPr>
              <a:t>the same mask doubles as termination: terminated = not any(mask).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C7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24128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99" b="1" i="0" spc="140">
                <a:solidFill>
                  <a:srgbClr val="5FB0AB"/>
                </a:solidFill>
                <a:latin typeface="Lato"/>
              </a:rPr>
              <a:t>PPO · IMPLEMENTATION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937" b="1" i="0">
                <a:solidFill>
                  <a:srgbClr val="FFFFFF"/>
                </a:solidFill>
                <a:latin typeface="Lato"/>
              </a:rPr>
              <a:t>My PPO Setup — Custom, not SB3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365760"/>
            <a:ext cx="137160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355" b="0" i="0">
                <a:solidFill>
                  <a:srgbClr val="BFD7DB"/>
                </a:solidFill>
                <a:latin typeface="Lato"/>
              </a:rPr>
              <a:t>10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11091672" cy="9144"/>
          </a:xfrm>
          <a:prstGeom prst="rect">
            <a:avLst/>
          </a:prstGeom>
          <a:solidFill>
            <a:srgbClr val="DC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86" b="0" i="0">
                <a:solidFill>
                  <a:srgbClr val="7C8A94"/>
                </a:solidFill>
                <a:latin typeface="Lato"/>
              </a:rPr>
              <a:t>Block Blast RL  ·  PPO (Member 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371600"/>
            <a:ext cx="11091672" cy="1078992"/>
          </a:xfrm>
          <a:prstGeom prst="roundRect">
            <a:avLst>
              <a:gd name="adj" fmla="val 3000"/>
            </a:avLst>
          </a:prstGeom>
          <a:solidFill>
            <a:srgbClr val="0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536192"/>
            <a:ext cx="1050645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43" b="1" i="0" spc="130">
                <a:solidFill>
                  <a:srgbClr val="5FB0AB"/>
                </a:solidFill>
                <a:latin typeface="Lato"/>
              </a:rPr>
              <a:t>ALGORITHM · CUSTOM PPO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1773936"/>
            <a:ext cx="10506456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751" b="0" i="0">
                <a:solidFill>
                  <a:srgbClr val="FFFFFF"/>
                </a:solidFill>
                <a:latin typeface="Lato"/>
              </a:rPr>
              <a:t>Written from scratch so it shares the EXACT CNN backbone with the DQN member </a:t>
            </a:r>
            <a:r>
              <a:rPr sz="1751" b="0" i="0">
                <a:solidFill>
                  <a:srgbClr val="FFFFFF"/>
                </a:solidFill>
                <a:latin typeface="Lato"/>
              </a:rPr>
              <a:t>— SB3 won't allow that cleanly. </a:t>
            </a:r>
            <a:r>
              <a:rPr sz="1751" b="1" i="0">
                <a:solidFill>
                  <a:srgbClr val="E8A23C"/>
                </a:solidFill>
                <a:latin typeface="Lato"/>
              </a:rPr>
              <a:t>Every hyperparameter still matches SB3 MaskablePPO defaults, so neither method was hand-tuned to win.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33472"/>
            <a:ext cx="3547872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33472"/>
            <a:ext cx="54864" cy="877824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798064"/>
            <a:ext cx="314553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7" b="1" i="0">
                <a:solidFill>
                  <a:srgbClr val="0E7C86"/>
                </a:solidFill>
                <a:latin typeface="Consolas"/>
              </a:rPr>
              <a:t>clip_range = 0.2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090672"/>
            <a:ext cx="3145536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12" b="0" i="0">
                <a:solidFill>
                  <a:srgbClr val="2E3A42"/>
                </a:solidFill>
                <a:latin typeface="Lato"/>
              </a:rPr>
              <a:t>ratio clipped to [0.8, 1.2]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34256" y="2633472"/>
            <a:ext cx="3547872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34256" y="2633472"/>
            <a:ext cx="54864" cy="877824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2798064"/>
            <a:ext cx="314553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7" b="1" i="0">
                <a:solidFill>
                  <a:srgbClr val="0E7C86"/>
                </a:solidFill>
                <a:latin typeface="Consolas"/>
              </a:rPr>
              <a:t>γ = 0.99 · λ = 0.95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3090672"/>
            <a:ext cx="3145536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12" b="0" i="0">
                <a:solidFill>
                  <a:srgbClr val="2E3A42"/>
                </a:solidFill>
                <a:latin typeface="Lato"/>
              </a:rPr>
              <a:t>discount + GAE smoothing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19872" y="2633472"/>
            <a:ext cx="3547872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19872" y="2633472"/>
            <a:ext cx="54864" cy="877824"/>
          </a:xfrm>
          <a:prstGeom prst="rect">
            <a:avLst/>
          </a:prstGeom>
          <a:solidFill>
            <a:srgbClr val="E8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2798064"/>
            <a:ext cx="314553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7" b="1" i="0">
                <a:solidFill>
                  <a:srgbClr val="0E7C86"/>
                </a:solidFill>
                <a:latin typeface="Consolas"/>
              </a:rPr>
              <a:t>lr = 3e-4 →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3090672"/>
            <a:ext cx="3145536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12" b="0" i="0">
                <a:solidFill>
                  <a:srgbClr val="2E3A42"/>
                </a:solidFill>
                <a:latin typeface="Lato"/>
              </a:rPr>
              <a:t>Adam, linear decay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657600"/>
            <a:ext cx="3547872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657600"/>
            <a:ext cx="54864" cy="877824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822191"/>
            <a:ext cx="314553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7" b="1" i="0">
                <a:solidFill>
                  <a:srgbClr val="0E7C86"/>
                </a:solidFill>
                <a:latin typeface="Consolas"/>
              </a:rPr>
              <a:t>8 envs × 128 = 1024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4114800"/>
            <a:ext cx="3145536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12" b="0" i="0">
                <a:solidFill>
                  <a:srgbClr val="2E3A42"/>
                </a:solidFill>
                <a:latin typeface="Lato"/>
              </a:rPr>
              <a:t>transitions per iteration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34256" y="3657600"/>
            <a:ext cx="3547872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34256" y="3657600"/>
            <a:ext cx="54864" cy="877824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53712" y="3822191"/>
            <a:ext cx="314553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7" b="1" i="0">
                <a:solidFill>
                  <a:srgbClr val="0E7C86"/>
                </a:solidFill>
                <a:latin typeface="Consolas"/>
              </a:rPr>
              <a:t>10 epochs × 64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4114800"/>
            <a:ext cx="3145536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12" b="0" i="0">
                <a:solidFill>
                  <a:srgbClr val="2E3A42"/>
                </a:solidFill>
                <a:latin typeface="Lato"/>
              </a:rPr>
              <a:t>minibatch reuse; adv normalized per minibatch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19872" y="3657600"/>
            <a:ext cx="3547872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19872" y="3657600"/>
            <a:ext cx="54864" cy="877824"/>
          </a:xfrm>
          <a:prstGeom prst="rect">
            <a:avLst/>
          </a:prstGeom>
          <a:solidFill>
            <a:srgbClr val="E8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9327" y="3822191"/>
            <a:ext cx="314553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7" b="1" i="0">
                <a:solidFill>
                  <a:srgbClr val="0E7C86"/>
                </a:solidFill>
                <a:latin typeface="Consolas"/>
              </a:rPr>
              <a:t>health metrics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7" y="4114800"/>
            <a:ext cx="3145536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12" b="0" i="0">
                <a:solidFill>
                  <a:srgbClr val="2E3A42"/>
                </a:solidFill>
                <a:latin typeface="Lato"/>
              </a:rPr>
              <a:t>approx-KL · clip fraction · explained variance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C7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24128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99" b="1" i="0" spc="140">
                <a:solidFill>
                  <a:srgbClr val="5FB0AB"/>
                </a:solidFill>
                <a:latin typeface="Lato"/>
              </a:rPr>
              <a:t>PPO · IMPLEMENTATION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937" b="1" i="0">
                <a:solidFill>
                  <a:srgbClr val="FFFFFF"/>
                </a:solidFill>
                <a:latin typeface="Lato"/>
              </a:rPr>
              <a:t>The Shared CNN Backbone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365760"/>
            <a:ext cx="137160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355" b="0" i="0">
                <a:solidFill>
                  <a:srgbClr val="BFD7DB"/>
                </a:solidFill>
                <a:latin typeface="Lato"/>
              </a:rPr>
              <a:t>11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11091672" cy="9144"/>
          </a:xfrm>
          <a:prstGeom prst="rect">
            <a:avLst/>
          </a:prstGeom>
          <a:solidFill>
            <a:srgbClr val="DC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86" b="0" i="0">
                <a:solidFill>
                  <a:srgbClr val="7C8A94"/>
                </a:solidFill>
                <a:latin typeface="Lato"/>
              </a:rPr>
              <a:t>Block Blast RL  ·  PPO (Member 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371600"/>
            <a:ext cx="11091672" cy="841248"/>
          </a:xfrm>
          <a:prstGeom prst="roundRect">
            <a:avLst>
              <a:gd name="adj" fmla="val 3000"/>
            </a:avLst>
          </a:prstGeom>
          <a:solidFill>
            <a:srgbClr val="0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517904"/>
            <a:ext cx="1050645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43" b="1" i="0" spc="140">
                <a:solidFill>
                  <a:srgbClr val="5FB0AB"/>
                </a:solidFill>
                <a:latin typeface="Lato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1719072"/>
            <a:ext cx="10506456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695" b="0" i="0">
                <a:solidFill>
                  <a:srgbClr val="FFFFFF"/>
                </a:solidFill>
                <a:latin typeface="Lato"/>
              </a:rPr>
              <a:t>The base actor–critic — the SAME backbone the DQN member uses. Any PPO-vs-DQN gap is attributable to the algorithm, not the encoder.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95728"/>
            <a:ext cx="3547872" cy="512064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395728"/>
            <a:ext cx="6400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260" b="1" i="0">
                <a:solidFill>
                  <a:srgbClr val="FFFFFF"/>
                </a:solidFill>
                <a:latin typeface="Lato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2395728"/>
            <a:ext cx="2670048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695" b="1" i="0">
                <a:solidFill>
                  <a:srgbClr val="FFFFFF"/>
                </a:solidFill>
                <a:latin typeface="Lato"/>
              </a:rPr>
              <a:t>Board branch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907792"/>
            <a:ext cx="3547872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163824"/>
            <a:ext cx="31089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sz="1638" b="0" i="0">
                <a:solidFill>
                  <a:srgbClr val="2E3A42"/>
                </a:solidFill>
                <a:latin typeface="Consolas"/>
              </a:rPr>
              <a:t>board (1,8,8)
→ 2× Conv 3×3
→ (64,8,8)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34256" y="2395728"/>
            <a:ext cx="3547872" cy="512064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5424" y="2395728"/>
            <a:ext cx="6400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260" b="1" i="0">
                <a:solidFill>
                  <a:srgbClr val="FFFFFF"/>
                </a:solidFill>
                <a:latin typeface="Lato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7488" y="2395728"/>
            <a:ext cx="2670048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695" b="1" i="0">
                <a:solidFill>
                  <a:srgbClr val="FFFFFF"/>
                </a:solidFill>
                <a:latin typeface="Lato"/>
              </a:rPr>
              <a:t>Pieces branch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34256" y="2907792"/>
            <a:ext cx="3547872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163824"/>
            <a:ext cx="31089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sz="1638" b="0" i="0">
                <a:solidFill>
                  <a:srgbClr val="2E3A42"/>
                </a:solidFill>
                <a:latin typeface="Consolas"/>
              </a:rPr>
              <a:t>pieces (3,5,5)
→ weight-shared encoder
→ pad → (48,8,8)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19872" y="2395728"/>
            <a:ext cx="3547872" cy="512064"/>
          </a:xfrm>
          <a:prstGeom prst="rect">
            <a:avLst/>
          </a:prstGeom>
          <a:solidFill>
            <a:srgbClr val="E8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2395728"/>
            <a:ext cx="6400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260" b="1" i="0">
                <a:solidFill>
                  <a:srgbClr val="FFFFFF"/>
                </a:solidFill>
                <a:latin typeface="Lato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33104" y="2395728"/>
            <a:ext cx="2670048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695" b="1" i="0">
                <a:solidFill>
                  <a:srgbClr val="FFFFFF"/>
                </a:solidFill>
                <a:latin typeface="Lato"/>
              </a:rPr>
              <a:t>Fuse + heads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19872" y="2907792"/>
            <a:ext cx="3547872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7616" y="3163824"/>
            <a:ext cx="31089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sz="1638" b="0" i="0">
                <a:solidFill>
                  <a:srgbClr val="2E3A42"/>
                </a:solidFill>
                <a:latin typeface="Consolas"/>
              </a:rPr>
              <a:t>fusion conv → FC(4096→128)
+ pieces_left(3) → FC(131→128)
→ actor (192) + critic (1)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937760"/>
            <a:ext cx="11091672" cy="768096"/>
          </a:xfrm>
          <a:prstGeom prst="roundRect">
            <a:avLst>
              <a:gd name="adj" fmla="val 4000"/>
            </a:avLst>
          </a:prstGeom>
          <a:solidFill>
            <a:srgbClr val="0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5084064"/>
            <a:ext cx="1050645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43" b="1" i="0" spc="140">
                <a:solidFill>
                  <a:srgbClr val="E8A23C"/>
                </a:solidFill>
                <a:latin typeface="Lato"/>
              </a:rPr>
              <a:t>SPATIAL FUSION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285232"/>
            <a:ext cx="10506456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581" b="0" i="0">
                <a:solidFill>
                  <a:srgbClr val="FFFFFF"/>
                </a:solidFill>
                <a:latin typeface="Lato"/>
              </a:rPr>
              <a:t>Fusion is performed while features retain their 2-D topology (8×8) — the network lines up empty cells with piece shapes positionally, before any flattening.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C7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24128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99" b="1" i="0" spc="140">
                <a:solidFill>
                  <a:srgbClr val="5FB0AB"/>
                </a:solidFill>
                <a:latin typeface="Lato"/>
              </a:rPr>
              <a:t>PPO · VARIANT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937" b="1" i="0">
                <a:solidFill>
                  <a:srgbClr val="FFFFFF"/>
                </a:solidFill>
                <a:latin typeface="Lato"/>
              </a:rPr>
              <a:t>Heuristic-Aware Actor–Critic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365760"/>
            <a:ext cx="137160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355" b="0" i="0">
                <a:solidFill>
                  <a:srgbClr val="BFD7DB"/>
                </a:solidFill>
                <a:latin typeface="Lato"/>
              </a:rPr>
              <a:t>12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11091672" cy="9144"/>
          </a:xfrm>
          <a:prstGeom prst="rect">
            <a:avLst/>
          </a:prstGeom>
          <a:solidFill>
            <a:srgbClr val="DC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86" b="0" i="0">
                <a:solidFill>
                  <a:srgbClr val="7C8A94"/>
                </a:solidFill>
                <a:latin typeface="Lato"/>
              </a:rPr>
              <a:t>Block Blast RL  ·  PPO (Member 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371600"/>
            <a:ext cx="5120640" cy="4297680"/>
          </a:xfrm>
          <a:prstGeom prst="roundRect">
            <a:avLst>
              <a:gd name="adj" fmla="val 4000"/>
            </a:avLst>
          </a:prstGeom>
          <a:solidFill>
            <a:srgbClr val="0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664208"/>
            <a:ext cx="44988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43" b="1" i="0" spc="120">
                <a:solidFill>
                  <a:srgbClr val="5FB0AB"/>
                </a:solidFill>
                <a:latin typeface="Lato"/>
              </a:rPr>
              <a:t>VARIANT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1901952"/>
            <a:ext cx="4498848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</a:pPr>
            <a:r>
              <a:rPr sz="3051" b="1" i="0">
                <a:solidFill>
                  <a:srgbClr val="FFFFFF"/>
                </a:solidFill>
                <a:latin typeface="Lato"/>
              </a:rPr>
              <a:t>+ 40-d hand-
crafted features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" y="2926080"/>
            <a:ext cx="438912" cy="45720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108960"/>
            <a:ext cx="4498848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25" b="0" i="0">
                <a:solidFill>
                  <a:srgbClr val="5FB0AB"/>
                </a:solidFill>
                <a:latin typeface="Lato"/>
              </a:rPr>
              <a:t>hand the agent the answer, don't make it relearn the 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584448"/>
            <a:ext cx="4498848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581" b="0" i="0">
                <a:solidFill>
                  <a:srgbClr val="CFDDE2"/>
                </a:solidFill>
                <a:latin typeface="Lato"/>
              </a:rPr>
              <a:t>Added alongside the shared backbone without modifying it — the PPO-vs-DQN comparison stays fair.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61888" y="1371600"/>
            <a:ext cx="5678424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61888" y="1371600"/>
            <a:ext cx="54864" cy="1371600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572768"/>
            <a:ext cx="51663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7" b="1" i="0">
                <a:solidFill>
                  <a:srgbClr val="2E3A42"/>
                </a:solidFill>
                <a:latin typeface="Lato"/>
              </a:rPr>
              <a:t>The 40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865376"/>
            <a:ext cx="5193792" cy="8046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25" b="0" i="0">
                <a:solidFill>
                  <a:srgbClr val="2E3A42"/>
                </a:solidFill>
                <a:latin typeface="Lato"/>
              </a:rPr>
              <a:t>column heights · holes · row/col fill · bumpiness · # legal moves — all emitted by the env, normalized to [0,1].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61888" y="2834640"/>
            <a:ext cx="5678424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61888" y="2834640"/>
            <a:ext cx="54864" cy="1371600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035808"/>
            <a:ext cx="51663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7" b="1" i="0">
                <a:solidFill>
                  <a:srgbClr val="2E3A42"/>
                </a:solidFill>
                <a:latin typeface="Lato"/>
              </a:rPr>
              <a:t>How they merge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328416"/>
            <a:ext cx="5193792" cy="8046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25" b="0" i="0">
                <a:solidFill>
                  <a:srgbClr val="2E3A42"/>
                </a:solidFill>
                <a:latin typeface="Lato"/>
              </a:rPr>
              <a:t>small MLP (40→32), concatenated into the shared layer:  fusion(128) + pieces_left(3) + heuristics(32) → FC(163→128).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61888" y="4297680"/>
            <a:ext cx="5678424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61888" y="4297680"/>
            <a:ext cx="54864" cy="1371600"/>
          </a:xfrm>
          <a:prstGeom prst="rect">
            <a:avLst/>
          </a:prstGeom>
          <a:solidFill>
            <a:srgbClr val="E8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4498848"/>
            <a:ext cx="51663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7" b="1" i="0">
                <a:solidFill>
                  <a:srgbClr val="2E3A42"/>
                </a:solidFill>
                <a:latin typeface="Lato"/>
              </a:rPr>
              <a:t>Why it helps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791456"/>
            <a:ext cx="5193792" cy="8046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25" b="0" i="0">
                <a:solidFill>
                  <a:srgbClr val="2E3A42"/>
                </a:solidFill>
                <a:latin typeface="Lato"/>
              </a:rPr>
              <a:t>the agent no longer has to learn "this column is too tall" from pixels — it gets a head start.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C7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24128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99" b="1" i="0" spc="140">
                <a:solidFill>
                  <a:srgbClr val="5FB0AB"/>
                </a:solidFill>
                <a:latin typeface="Lato"/>
              </a:rPr>
              <a:t>PPO · VARIANT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937" b="1" i="0">
                <a:solidFill>
                  <a:srgbClr val="FFFFFF"/>
                </a:solidFill>
                <a:latin typeface="Lato"/>
              </a:rPr>
              <a:t>Afterstate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365760"/>
            <a:ext cx="137160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355" b="0" i="0">
                <a:solidFill>
                  <a:srgbClr val="BFD7DB"/>
                </a:solidFill>
                <a:latin typeface="Lato"/>
              </a:rPr>
              <a:t>13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11091672" cy="9144"/>
          </a:xfrm>
          <a:prstGeom prst="rect">
            <a:avLst/>
          </a:prstGeom>
          <a:solidFill>
            <a:srgbClr val="DC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86" b="0" i="0">
                <a:solidFill>
                  <a:srgbClr val="7C8A94"/>
                </a:solidFill>
                <a:latin typeface="Lato"/>
              </a:rPr>
              <a:t>Block Blast RL  ·  PPO (Member 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371600"/>
            <a:ext cx="5120640" cy="4297680"/>
          </a:xfrm>
          <a:prstGeom prst="roundRect">
            <a:avLst>
              <a:gd name="adj" fmla="val 4000"/>
            </a:avLst>
          </a:prstGeom>
          <a:solidFill>
            <a:srgbClr val="0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664208"/>
            <a:ext cx="44988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43" b="1" i="0" spc="120">
                <a:solidFill>
                  <a:srgbClr val="5FB0AB"/>
                </a:solidFill>
                <a:latin typeface="Lato"/>
              </a:rPr>
              <a:t>VARIANT 2 · ~2.7k PARAMS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1901952"/>
            <a:ext cx="4498848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</a:pPr>
            <a:r>
              <a:rPr sz="3051" b="1" i="0">
                <a:solidFill>
                  <a:srgbClr val="FFFFFF"/>
                </a:solidFill>
                <a:latin typeface="Lato"/>
              </a:rPr>
              <a:t>Score the board
after the move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" y="2926080"/>
            <a:ext cx="438912" cy="45720"/>
          </a:xfrm>
          <a:prstGeom prst="rect">
            <a:avLst/>
          </a:prstGeom>
          <a:solidFill>
            <a:srgbClr val="E8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108960"/>
            <a:ext cx="4498848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25" b="0" i="0">
                <a:solidFill>
                  <a:srgbClr val="5FB0AB"/>
                </a:solidFill>
                <a:latin typeface="Lato"/>
              </a:rPr>
              <a:t>simulate each placement, score the resulting 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584448"/>
            <a:ext cx="4498848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581" b="0" i="0">
                <a:solidFill>
                  <a:srgbClr val="CFDDE2"/>
                </a:solidFill>
                <a:latin typeface="Lato"/>
              </a:rPr>
              <a:t>A classic idea for Tetris-like games (deterministic placement), adapted to Block Blast's 192-action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61888" y="1371600"/>
            <a:ext cx="5678424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61888" y="1371600"/>
            <a:ext cx="54864" cy="1371600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554480"/>
            <a:ext cx="51663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7" b="1" i="0">
                <a:solidFill>
                  <a:srgbClr val="2E3A42"/>
                </a:solidFill>
                <a:latin typeface="Lato"/>
              </a:rPr>
              <a:t>9 afterstate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847088"/>
            <a:ext cx="5193792" cy="8412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525" b="0" i="0">
                <a:solidFill>
                  <a:srgbClr val="2E3A42"/>
                </a:solidFill>
                <a:latin typeface="Lato"/>
              </a:rPr>
              <a:t>per action: lines cleared, eroded cells, holes, max/mean height, bumpiness, row/col transitions, near-full lines.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61888" y="2834640"/>
            <a:ext cx="5678424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61888" y="2834640"/>
            <a:ext cx="54864" cy="1371600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017520"/>
            <a:ext cx="51663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7" b="1" i="0">
                <a:solidFill>
                  <a:srgbClr val="2E3A42"/>
                </a:solidFill>
                <a:latin typeface="Lato"/>
              </a:rPr>
              <a:t>Tiny actor + critic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310128"/>
            <a:ext cx="5193792" cy="8412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525" b="0" i="0">
                <a:solidFill>
                  <a:srgbClr val="2E3A42"/>
                </a:solidFill>
                <a:latin typeface="Lato"/>
              </a:rPr>
              <a:t>actor = one shared Linear(9→1) scoring all 192 actions; critic = 40-d heuristics → small MLP → V(s).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61888" y="4297680"/>
            <a:ext cx="5678424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61888" y="4297680"/>
            <a:ext cx="54864" cy="1371600"/>
          </a:xfrm>
          <a:prstGeom prst="rect">
            <a:avLst/>
          </a:prstGeom>
          <a:solidFill>
            <a:srgbClr val="E8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4480560"/>
            <a:ext cx="51663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7" b="1" i="0">
                <a:solidFill>
                  <a:srgbClr val="2E3A42"/>
                </a:solidFill>
                <a:latin typeface="Lato"/>
              </a:rPr>
              <a:t>Raw integer scale on purpose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773168"/>
            <a:ext cx="5193792" cy="8412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525" b="0" i="0">
                <a:solidFill>
                  <a:srgbClr val="2E3A42"/>
                </a:solidFill>
                <a:latin typeface="Lato"/>
              </a:rPr>
              <a:t>normalizing to [0,1] shrinks logit gaps below the entropy bonus → policy freezes uniform — never clears the entropy floor.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C7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24128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99" b="1" i="0" spc="140">
                <a:solidFill>
                  <a:srgbClr val="5FB0AB"/>
                </a:solidFill>
                <a:latin typeface="Lato"/>
              </a:rPr>
              <a:t>PPO ·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937" b="1" i="0">
                <a:solidFill>
                  <a:srgbClr val="FFFFFF"/>
                </a:solidFill>
                <a:latin typeface="Lato"/>
              </a:rPr>
              <a:t>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365760"/>
            <a:ext cx="137160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355" b="0" i="0">
                <a:solidFill>
                  <a:srgbClr val="BFD7DB"/>
                </a:solidFill>
                <a:latin typeface="Lato"/>
              </a:rPr>
              <a:t>14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11091672" cy="9144"/>
          </a:xfrm>
          <a:prstGeom prst="rect">
            <a:avLst/>
          </a:prstGeom>
          <a:solidFill>
            <a:srgbClr val="DC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86" b="0" i="0">
                <a:solidFill>
                  <a:srgbClr val="7C8A94"/>
                </a:solidFill>
                <a:latin typeface="Lato"/>
              </a:rPr>
              <a:t>Block Blast RL  ·  PPO (Member 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44752"/>
            <a:ext cx="3547872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44752"/>
            <a:ext cx="3547872" cy="73152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1700784"/>
            <a:ext cx="309067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33" b="1" i="0">
                <a:solidFill>
                  <a:srgbClr val="2E3A42"/>
                </a:solidFill>
                <a:latin typeface="Lato"/>
              </a:rPr>
              <a:t>What it 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" y="2029968"/>
            <a:ext cx="384048" cy="36576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212848"/>
            <a:ext cx="3090672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81" b="0" i="0">
                <a:solidFill>
                  <a:srgbClr val="17A294"/>
                </a:solidFill>
                <a:latin typeface="Lato"/>
              </a:rPr>
              <a:t>•  </a:t>
            </a:r>
            <a:r>
              <a:rPr sz="1581" b="0" i="0">
                <a:solidFill>
                  <a:srgbClr val="2E3A42"/>
                </a:solidFill>
                <a:latin typeface="Lato"/>
              </a:rPr>
              <a:t>model-free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81" b="0" i="0">
                <a:solidFill>
                  <a:srgbClr val="17A294"/>
                </a:solidFill>
                <a:latin typeface="Lato"/>
              </a:rPr>
              <a:t>•  </a:t>
            </a:r>
            <a:r>
              <a:rPr sz="1581" b="0" i="0">
                <a:solidFill>
                  <a:srgbClr val="2E3A42"/>
                </a:solidFill>
                <a:latin typeface="Lato"/>
              </a:rPr>
              <a:t>policy-based (actor–critic)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81" b="0" i="0">
                <a:solidFill>
                  <a:srgbClr val="17A294"/>
                </a:solidFill>
                <a:latin typeface="Lato"/>
              </a:rPr>
              <a:t>•  </a:t>
            </a:r>
            <a:r>
              <a:rPr sz="1581" b="0" i="0">
                <a:solidFill>
                  <a:srgbClr val="2E3A42"/>
                </a:solidFill>
                <a:latin typeface="Lato"/>
              </a:rPr>
              <a:t>on-policy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81" b="0" i="0">
                <a:solidFill>
                  <a:srgbClr val="17A294"/>
                </a:solidFill>
                <a:latin typeface="Lato"/>
              </a:rPr>
              <a:t>•  </a:t>
            </a:r>
            <a:r>
              <a:rPr sz="1581" b="0" i="0">
                <a:solidFill>
                  <a:srgbClr val="2E3A42"/>
                </a:solidFill>
                <a:latin typeface="Lato"/>
              </a:rPr>
              <a:t>A2C family — but safer &amp; more efficient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444752"/>
            <a:ext cx="3547872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4256" y="1444752"/>
            <a:ext cx="3547872" cy="73152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700784"/>
            <a:ext cx="309067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33" b="1" i="0">
                <a:solidFill>
                  <a:srgbClr val="2E3A42"/>
                </a:solidFill>
                <a:latin typeface="Lato"/>
              </a:rPr>
              <a:t>The math · 4 pieces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2029968"/>
            <a:ext cx="384048" cy="36576"/>
          </a:xfrm>
          <a:prstGeom prst="rect">
            <a:avLst/>
          </a:prstGeom>
          <a:solidFill>
            <a:srgbClr val="17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212848"/>
            <a:ext cx="3090672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81" b="0" i="0">
                <a:solidFill>
                  <a:srgbClr val="17A294"/>
                </a:solidFill>
                <a:latin typeface="Lato"/>
              </a:rPr>
              <a:t>•  </a:t>
            </a:r>
            <a:r>
              <a:rPr sz="1581" b="0" i="0">
                <a:solidFill>
                  <a:srgbClr val="2E3A42"/>
                </a:solidFill>
                <a:latin typeface="Lato"/>
              </a:rPr>
              <a:t>ratio  (importance sampling)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81" b="0" i="0">
                <a:solidFill>
                  <a:srgbClr val="17A294"/>
                </a:solidFill>
                <a:latin typeface="Lato"/>
              </a:rPr>
              <a:t>•  </a:t>
            </a:r>
            <a:r>
              <a:rPr sz="1581" b="0" i="0">
                <a:solidFill>
                  <a:srgbClr val="2E3A42"/>
                </a:solidFill>
                <a:latin typeface="Lato"/>
              </a:rPr>
              <a:t>advantage  (GAE)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81" b="0" i="0">
                <a:solidFill>
                  <a:srgbClr val="17A294"/>
                </a:solidFill>
                <a:latin typeface="Lato"/>
              </a:rPr>
              <a:t>•  </a:t>
            </a:r>
            <a:r>
              <a:rPr sz="1581" b="0" i="0">
                <a:solidFill>
                  <a:srgbClr val="2E3A42"/>
                </a:solidFill>
                <a:latin typeface="Lato"/>
              </a:rPr>
              <a:t>clipped surrogate objective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81" b="0" i="0">
                <a:solidFill>
                  <a:srgbClr val="17A294"/>
                </a:solidFill>
                <a:latin typeface="Lato"/>
              </a:rPr>
              <a:t>•  </a:t>
            </a:r>
            <a:r>
              <a:rPr sz="1581" b="0" i="0">
                <a:solidFill>
                  <a:srgbClr val="2E3A42"/>
                </a:solidFill>
                <a:latin typeface="Lato"/>
              </a:rPr>
              <a:t>3-term loss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19872" y="1444752"/>
            <a:ext cx="3547872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6E7F8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19872" y="1444752"/>
            <a:ext cx="3547872" cy="73152"/>
          </a:xfrm>
          <a:prstGeom prst="rect">
            <a:avLst/>
          </a:prstGeom>
          <a:solidFill>
            <a:srgbClr val="E8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7616" y="1700784"/>
            <a:ext cx="309067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33" b="1" i="0">
                <a:solidFill>
                  <a:srgbClr val="2E3A42"/>
                </a:solidFill>
                <a:latin typeface="Lato"/>
              </a:rPr>
              <a:t>Implementation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57616" y="2029968"/>
            <a:ext cx="384048" cy="36576"/>
          </a:xfrm>
          <a:prstGeom prst="rect">
            <a:avLst/>
          </a:prstGeom>
          <a:solidFill>
            <a:srgbClr val="E8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57616" y="2212848"/>
            <a:ext cx="3090672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81" b="0" i="0">
                <a:solidFill>
                  <a:srgbClr val="E8A23C"/>
                </a:solidFill>
                <a:latin typeface="Lato"/>
              </a:rPr>
              <a:t>•  </a:t>
            </a:r>
            <a:r>
              <a:rPr sz="1581" b="0" i="0">
                <a:solidFill>
                  <a:srgbClr val="2E3A42"/>
                </a:solidFill>
                <a:latin typeface="Lato"/>
              </a:rPr>
              <a:t>action masking (mandatory)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81" b="0" i="0">
                <a:solidFill>
                  <a:srgbClr val="E8A23C"/>
                </a:solidFill>
                <a:latin typeface="Lato"/>
              </a:rPr>
              <a:t>•  </a:t>
            </a:r>
            <a:r>
              <a:rPr sz="1581" b="0" i="0">
                <a:solidFill>
                  <a:srgbClr val="2E3A42"/>
                </a:solidFill>
                <a:latin typeface="Lato"/>
              </a:rPr>
              <a:t>from-scratch PPO, SB3-matched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81" b="0" i="0">
                <a:solidFill>
                  <a:srgbClr val="E8A23C"/>
                </a:solidFill>
                <a:latin typeface="Lato"/>
              </a:rPr>
              <a:t>•  </a:t>
            </a:r>
            <a:r>
              <a:rPr sz="1581" b="0" i="0">
                <a:solidFill>
                  <a:srgbClr val="2E3A42"/>
                </a:solidFill>
                <a:latin typeface="Lato"/>
              </a:rPr>
              <a:t>shared CNN backbone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81" b="0" i="0">
                <a:solidFill>
                  <a:srgbClr val="E8A23C"/>
                </a:solidFill>
                <a:latin typeface="Lato"/>
              </a:rPr>
              <a:t>•  </a:t>
            </a:r>
            <a:r>
              <a:rPr sz="1581" b="0" i="0">
                <a:solidFill>
                  <a:srgbClr val="2E3A42"/>
                </a:solidFill>
                <a:latin typeface="Lato"/>
              </a:rPr>
              <a:t>+ 2 variants: heuristic · afterstate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370832"/>
            <a:ext cx="11091672" cy="1298448"/>
          </a:xfrm>
          <a:prstGeom prst="roundRect">
            <a:avLst>
              <a:gd name="adj" fmla="val 3000"/>
            </a:avLst>
          </a:prstGeom>
          <a:solidFill>
            <a:srgbClr val="0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4590288"/>
            <a:ext cx="1050645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43" b="1" i="0" spc="140">
                <a:solidFill>
                  <a:srgbClr val="E8A23C"/>
                </a:solidFill>
                <a:latin typeface="Lato"/>
              </a:rPr>
              <a:t>TWO IDEAS MAKE IT 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828032"/>
            <a:ext cx="1050645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7" b="1" i="0">
                <a:solidFill>
                  <a:srgbClr val="FFFFFF"/>
                </a:solidFill>
                <a:latin typeface="Lato"/>
              </a:rPr>
              <a:t>Importance sampling</a:t>
            </a:r>
            <a:r>
              <a:rPr sz="1807" b="0" i="0">
                <a:solidFill>
                  <a:srgbClr val="CFDDE2"/>
                </a:solidFill>
                <a:latin typeface="Lato"/>
              </a:rPr>
              <a:t>  → reuse each batch        </a:t>
            </a:r>
            <a:r>
              <a:rPr sz="1807" b="1" i="0">
                <a:solidFill>
                  <a:srgbClr val="FFFFFF"/>
                </a:solidFill>
                <a:latin typeface="Lato"/>
              </a:rPr>
              <a:t>Clipping</a:t>
            </a:r>
            <a:r>
              <a:rPr sz="1807" b="0" i="0">
                <a:solidFill>
                  <a:srgbClr val="CFDDE2"/>
                </a:solidFill>
                <a:latin typeface="Lato"/>
              </a:rPr>
              <a:t>  → keep those updates stable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5285232"/>
            <a:ext cx="1050645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25" b="0" i="1">
                <a:solidFill>
                  <a:srgbClr val="5FB0AB"/>
                </a:solidFill>
                <a:latin typeface="Lato"/>
              </a:rPr>
              <a:t>Results compared in the next section.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